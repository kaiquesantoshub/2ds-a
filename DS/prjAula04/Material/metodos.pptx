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  <p:sldId id="306" r:id="rId5"/>
    <p:sldId id="264" r:id="rId6"/>
    <p:sldId id="265" r:id="rId7"/>
    <p:sldId id="266" r:id="rId8"/>
    <p:sldId id="267" r:id="rId9"/>
    <p:sldId id="268" r:id="rId10"/>
    <p:sldId id="259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3010"/>
    <a:srgbClr val="7E2962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7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18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9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74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4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31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4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28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70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20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93D1E-E882-4939-8C20-570C9EA85E2C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49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pt-BR" dirty="0"/>
              <a:t>Métodos</a:t>
            </a:r>
          </a:p>
        </p:txBody>
      </p:sp>
    </p:spTree>
    <p:extLst>
      <p:ext uri="{BB962C8B-B14F-4D97-AF65-F5344CB8AC3E}">
        <p14:creationId xmlns:p14="http://schemas.microsoft.com/office/powerpoint/2010/main" val="416019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D7404-866F-492C-B018-BDEB2417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5F377C-763B-41C5-BB3F-8E2CADBE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blocos de código definidos dentro de uma classe que representam as ações, comportamentos ou funcionalidades que um objeto pode realizar. </a:t>
            </a:r>
          </a:p>
          <a:p>
            <a:endParaRPr lang="pt-BR" dirty="0"/>
          </a:p>
          <a:p>
            <a:r>
              <a:rPr lang="pt-BR" dirty="0"/>
              <a:t>Eles operam sobre os dados (atributos) do objeto, permitindo manipular o estado interno e interagir com o sistema.</a:t>
            </a:r>
          </a:p>
          <a:p>
            <a:endParaRPr lang="pt-BR" dirty="0"/>
          </a:p>
          <a:p>
            <a:r>
              <a:rPr lang="pt-BR" dirty="0"/>
              <a:t>Enquanto atributos definem o que um objeto é (características), métodos definem o que ele faz (</a:t>
            </a:r>
            <a:r>
              <a:rPr lang="pt-BR" dirty="0" err="1"/>
              <a:t>ex</a:t>
            </a:r>
            <a:r>
              <a:rPr lang="pt-BR" dirty="0"/>
              <a:t>: ligar(), frear(), </a:t>
            </a:r>
            <a:r>
              <a:rPr lang="pt-BR" dirty="0" err="1"/>
              <a:t>calcularSalario</a:t>
            </a:r>
            <a:r>
              <a:rPr lang="pt-BR" dirty="0"/>
              <a:t>()).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77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7C134-E2A4-4F1B-994F-18F10C72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Assinatura de um método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6E0A0-7033-4AF3-951B-BD025D1CA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520" y="2265680"/>
            <a:ext cx="5694680" cy="1950720"/>
          </a:xfrm>
        </p:spPr>
        <p:txBody>
          <a:bodyPr>
            <a:normAutofit/>
          </a:bodyPr>
          <a:lstStyle/>
          <a:p>
            <a:r>
              <a:rPr lang="pt-BR" dirty="0" err="1">
                <a:solidFill>
                  <a:srgbClr val="0070C0"/>
                </a:solidFill>
              </a:rPr>
              <a:t>public</a:t>
            </a:r>
            <a:r>
              <a:rPr lang="pt-BR" dirty="0"/>
              <a:t>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void</a:t>
            </a:r>
            <a:r>
              <a:rPr lang="pt-BR" dirty="0"/>
              <a:t> </a:t>
            </a:r>
            <a:r>
              <a:rPr lang="pt-BR" dirty="0" err="1"/>
              <a:t>nomeDoMetodo</a:t>
            </a:r>
            <a:r>
              <a:rPr lang="pt-BR" dirty="0"/>
              <a:t>(){</a:t>
            </a:r>
          </a:p>
          <a:p>
            <a:pPr marL="457200" lvl="1" indent="0">
              <a:buNone/>
            </a:pPr>
            <a:r>
              <a:rPr lang="pt-BR" dirty="0"/>
              <a:t>	//Implementação do método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076C588-90E9-425F-B708-00EA09F29D02}"/>
              </a:ext>
            </a:extLst>
          </p:cNvPr>
          <p:cNvSpPr txBox="1">
            <a:spLocks/>
          </p:cNvSpPr>
          <p:nvPr/>
        </p:nvSpPr>
        <p:spPr>
          <a:xfrm>
            <a:off x="3652520" y="4399280"/>
            <a:ext cx="4886960" cy="195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Exemplo: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exibirMensagem</a:t>
            </a:r>
            <a:r>
              <a:rPr lang="pt-BR" dirty="0"/>
              <a:t>(){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pt-BR" dirty="0"/>
              <a:t>	//Implementação do método</a:t>
            </a:r>
          </a:p>
          <a:p>
            <a:r>
              <a:rPr lang="pt-BR" dirty="0"/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32C0F0-A149-4CB8-A26E-78777F58E99A}"/>
              </a:ext>
            </a:extLst>
          </p:cNvPr>
          <p:cNvSpPr txBox="1"/>
          <p:nvPr/>
        </p:nvSpPr>
        <p:spPr>
          <a:xfrm>
            <a:off x="1107440" y="1763712"/>
            <a:ext cx="1737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Visibilidade:</a:t>
            </a:r>
          </a:p>
          <a:p>
            <a:endParaRPr lang="pt-BR" dirty="0"/>
          </a:p>
          <a:p>
            <a:r>
              <a:rPr lang="pt-BR" dirty="0" err="1"/>
              <a:t>public</a:t>
            </a:r>
            <a:endParaRPr lang="pt-BR" dirty="0"/>
          </a:p>
          <a:p>
            <a:r>
              <a:rPr lang="pt-BR" dirty="0" err="1"/>
              <a:t>private</a:t>
            </a:r>
            <a:endParaRPr lang="pt-BR" dirty="0"/>
          </a:p>
          <a:p>
            <a:r>
              <a:rPr lang="pt-BR" dirty="0" err="1"/>
              <a:t>protected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62DD37-7FD6-42B8-8A87-05403C6516E6}"/>
              </a:ext>
            </a:extLst>
          </p:cNvPr>
          <p:cNvSpPr txBox="1"/>
          <p:nvPr/>
        </p:nvSpPr>
        <p:spPr>
          <a:xfrm>
            <a:off x="9281160" y="1690688"/>
            <a:ext cx="20726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Tipo de Retorno:</a:t>
            </a:r>
          </a:p>
          <a:p>
            <a:endParaRPr lang="pt-BR" dirty="0"/>
          </a:p>
          <a:p>
            <a:r>
              <a:rPr lang="pt-BR" dirty="0" err="1"/>
              <a:t>void</a:t>
            </a:r>
            <a:endParaRPr lang="pt-BR" dirty="0"/>
          </a:p>
          <a:p>
            <a:r>
              <a:rPr lang="pt-BR" dirty="0" err="1"/>
              <a:t>int</a:t>
            </a:r>
            <a:endParaRPr lang="pt-BR" dirty="0"/>
          </a:p>
          <a:p>
            <a:r>
              <a:rPr lang="pt-BR" dirty="0" err="1"/>
              <a:t>boolean</a:t>
            </a:r>
            <a:endParaRPr lang="pt-BR" dirty="0"/>
          </a:p>
          <a:p>
            <a:r>
              <a:rPr lang="pt-BR" dirty="0" err="1"/>
              <a:t>String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etc</a:t>
            </a:r>
            <a:endParaRPr lang="pt-BR" dirty="0"/>
          </a:p>
          <a:p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C430C82-BDD6-499B-9AE3-164ACE1F600B}"/>
              </a:ext>
            </a:extLst>
          </p:cNvPr>
          <p:cNvCxnSpPr>
            <a:cxnSpLocks/>
          </p:cNvCxnSpPr>
          <p:nvPr/>
        </p:nvCxnSpPr>
        <p:spPr>
          <a:xfrm>
            <a:off x="2448560" y="2021840"/>
            <a:ext cx="1859280" cy="31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95E03F-230F-4982-B924-674F62861C28}"/>
              </a:ext>
            </a:extLst>
          </p:cNvPr>
          <p:cNvCxnSpPr>
            <a:cxnSpLocks/>
          </p:cNvCxnSpPr>
          <p:nvPr/>
        </p:nvCxnSpPr>
        <p:spPr>
          <a:xfrm flipH="1">
            <a:off x="5313680" y="1920240"/>
            <a:ext cx="3967480" cy="416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86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714C-DDBA-4538-9219-8D76DDCE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Utilização do método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FB216-6F6C-4D65-B9DA-D44216F3F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nomeObjeto.</a:t>
            </a:r>
            <a:r>
              <a:rPr lang="pt-BR" b="1" dirty="0" err="1"/>
              <a:t>nomeDoMetodo</a:t>
            </a:r>
            <a:r>
              <a:rPr lang="pt-BR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1722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0A310-4A8F-442D-B9B9-9381293C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Método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Sem retorno </a:t>
            </a:r>
            <a:r>
              <a:rPr lang="pt-BR" dirty="0"/>
              <a:t>e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03AF57-B810-43BE-85D4-694CD40E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4FCF47-70B2-4140-8CF4-2BF9EB16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2329423"/>
            <a:ext cx="7497221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FC3E-3421-4BC4-9CD4-0943FA01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Método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Sem retorno</a:t>
            </a:r>
            <a:r>
              <a:rPr lang="pt-BR" dirty="0"/>
              <a:t> e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 parâmetros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D1A5F3-DF06-46C1-9956-5BDA875DE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052325-99EA-40FE-A10B-E332A89CA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47"/>
            <a:ext cx="10544976" cy="210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0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4706F-35C9-4D33-89D1-D980FEA5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Método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 retorno</a:t>
            </a:r>
            <a:r>
              <a:rPr lang="pt-BR" dirty="0"/>
              <a:t> e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B3B1F-025E-460F-9A5A-3F50F622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7EFFA5-9E3B-4F19-B2F5-2869CD8A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03" y="2698431"/>
            <a:ext cx="6598193" cy="14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4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E35F5-0692-4D88-B721-75B52A58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Método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 retorno</a:t>
            </a:r>
            <a:r>
              <a:rPr lang="pt-BR" dirty="0"/>
              <a:t> e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222DD4-594E-4D79-9D9C-D14884EB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CDFA3A-1721-41BC-90AB-3632C54C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60" y="3067714"/>
            <a:ext cx="469648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05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41106-FF47-498E-8FE5-E6011B6E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com a utilização de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CE58FE-41E6-4B68-AE58-26C22BF6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300" dirty="0"/>
              <a:t>Criar um método com parâmetro em que o usuário digite um valor para a variável nome, e seja exibida a mensagem nome inválido, caso o nome contenha menos que 3 caracteres.</a:t>
            </a:r>
          </a:p>
          <a:p>
            <a:pPr marL="514350" indent="-514350">
              <a:buFont typeface="+mj-lt"/>
              <a:buAutoNum type="arabicPeriod"/>
            </a:pPr>
            <a:endParaRPr lang="pt-BR" sz="3300" dirty="0"/>
          </a:p>
          <a:p>
            <a:pPr marL="514350" indent="-514350">
              <a:buFont typeface="+mj-lt"/>
              <a:buAutoNum type="arabicPeriod"/>
            </a:pPr>
            <a:r>
              <a:rPr lang="pt-BR" sz="3300" dirty="0"/>
              <a:t>Criar um método sem parâmetro em que o usuário digite uma idade qualquer e seja exibida a mensagem maior de idade, caso a idade seja superior a 17 ou a mensagem menor de idade caso contrário.</a:t>
            </a:r>
          </a:p>
          <a:p>
            <a:pPr marL="514350" indent="-514350">
              <a:buFont typeface="+mj-lt"/>
              <a:buAutoNum type="arabicPeriod"/>
            </a:pPr>
            <a:endParaRPr lang="pt-BR" sz="3300" dirty="0"/>
          </a:p>
          <a:p>
            <a:pPr marL="514350" indent="-514350">
              <a:buFont typeface="+mj-lt"/>
              <a:buAutoNum type="arabicPeriod"/>
            </a:pPr>
            <a:r>
              <a:rPr lang="pt-BR" sz="3300" dirty="0"/>
              <a:t>Criar um método sem parâmetro, em que o usuário digite o CEP no formato: 12345678 e seja retornado no formato 12345-678</a:t>
            </a:r>
          </a:p>
          <a:p>
            <a:pPr marL="514350" indent="-514350">
              <a:buFont typeface="+mj-lt"/>
              <a:buAutoNum type="arabicPeriod"/>
            </a:pPr>
            <a:endParaRPr lang="pt-BR" sz="3300" dirty="0"/>
          </a:p>
          <a:p>
            <a:pPr marL="514350" indent="-514350">
              <a:buFont typeface="+mj-lt"/>
              <a:buAutoNum type="arabicPeriod"/>
            </a:pPr>
            <a:r>
              <a:rPr lang="pt-BR" sz="3300" dirty="0"/>
              <a:t>Criar um método utilizando parâmetros, em que o usuário digite seu nome, sua idade, seu e-mail e seu peso. Exibir os valores da seguinte forma: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900" dirty="0"/>
              <a:t>Nome: NOME DIGITADO (em maiúsculo)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900" dirty="0"/>
              <a:t>Idade: idade digitada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900" dirty="0"/>
              <a:t>E-mail: e-mail digitado (em minúsculo)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900" dirty="0"/>
              <a:t>Peso: peso digitado com duas casas decimais</a:t>
            </a:r>
          </a:p>
          <a:p>
            <a:pPr marL="914400" lvl="1" indent="-457200">
              <a:buFont typeface="+mj-lt"/>
              <a:buAutoNum type="arabicPeriod"/>
            </a:pPr>
            <a:endParaRPr lang="pt-BR" sz="2900" dirty="0"/>
          </a:p>
          <a:p>
            <a:pPr marL="514350" indent="-514350">
              <a:buFont typeface="+mj-lt"/>
              <a:buAutoNum type="arabicPeriod"/>
            </a:pPr>
            <a:r>
              <a:rPr lang="pt-BR" sz="3300" dirty="0"/>
              <a:t>Criar um método que exiba os números pares de 0 a 100 em ordem decrescente.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737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Modificadores de Acesso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872594"/>
              </p:ext>
            </p:extLst>
          </p:nvPr>
        </p:nvGraphicFramePr>
        <p:xfrm>
          <a:off x="3130061" y="2291617"/>
          <a:ext cx="5931878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9">
                  <a:extLst>
                    <a:ext uri="{9D8B030D-6E8A-4147-A177-3AD203B41FA5}">
                      <a16:colId xmlns:a16="http://schemas.microsoft.com/office/drawing/2014/main" val="906470523"/>
                    </a:ext>
                  </a:extLst>
                </a:gridCol>
                <a:gridCol w="2965939">
                  <a:extLst>
                    <a:ext uri="{9D8B030D-6E8A-4147-A177-3AD203B41FA5}">
                      <a16:colId xmlns:a16="http://schemas.microsoft.com/office/drawing/2014/main" val="341736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Modificador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Palavra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60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 err="1"/>
                        <a:t>public</a:t>
                      </a:r>
                      <a:endParaRPr lang="pt-BR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78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 err="1"/>
                        <a:t>private</a:t>
                      </a:r>
                      <a:endParaRPr lang="pt-BR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44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 err="1"/>
                        <a:t>protected</a:t>
                      </a:r>
                      <a:endParaRPr lang="pt-BR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5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“default”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408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961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343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Métodos</vt:lpstr>
      <vt:lpstr>Métodos Conceitos</vt:lpstr>
      <vt:lpstr>Assinatura de um método</vt:lpstr>
      <vt:lpstr>Utilização do método</vt:lpstr>
      <vt:lpstr>Exemplo de Método Sem retorno e Sem parâmetro</vt:lpstr>
      <vt:lpstr>Exemplo de Método Sem retorno e Com parâmetros</vt:lpstr>
      <vt:lpstr>Exemplo de Método Com retorno e Sem parâmetro</vt:lpstr>
      <vt:lpstr>Exemplo de Método Com retorno e Com parâmetro</vt:lpstr>
      <vt:lpstr>Exercícios com a utilização de métodos</vt:lpstr>
      <vt:lpstr>Modificadores de Acesso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</dc:creator>
  <cp:lastModifiedBy>userlocal</cp:lastModifiedBy>
  <cp:revision>93</cp:revision>
  <dcterms:created xsi:type="dcterms:W3CDTF">2025-03-12T13:08:23Z</dcterms:created>
  <dcterms:modified xsi:type="dcterms:W3CDTF">2026-03-11T13:25:40Z</dcterms:modified>
</cp:coreProperties>
</file>