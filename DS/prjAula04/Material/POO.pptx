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4" r:id="rId5"/>
    <p:sldId id="258" r:id="rId6"/>
    <p:sldId id="260" r:id="rId7"/>
    <p:sldId id="275" r:id="rId8"/>
    <p:sldId id="276" r:id="rId9"/>
    <p:sldId id="277" r:id="rId10"/>
    <p:sldId id="278" r:id="rId11"/>
    <p:sldId id="273" r:id="rId12"/>
    <p:sldId id="262" r:id="rId13"/>
    <p:sldId id="264" r:id="rId14"/>
    <p:sldId id="265" r:id="rId15"/>
    <p:sldId id="279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FDA"/>
    <a:srgbClr val="FE7B9D"/>
    <a:srgbClr val="EE5B2E"/>
    <a:srgbClr val="56823A"/>
    <a:srgbClr val="682B88"/>
    <a:srgbClr val="2A4896"/>
    <a:srgbClr val="21C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25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371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15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9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85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99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20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52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774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61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7445C-CE64-429E-9E3C-B164C5400FC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EE0EF-B844-4847-AFFB-740D5C037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18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92821"/>
          </a:xfrm>
        </p:spPr>
        <p:txBody>
          <a:bodyPr/>
          <a:lstStyle/>
          <a:p>
            <a:r>
              <a:rPr lang="pt-BR" b="1" dirty="0">
                <a:solidFill>
                  <a:srgbClr val="21C7D5"/>
                </a:solidFill>
              </a:rPr>
              <a:t>POO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Programação Orientada a objeto | Willian Mateus | DIO">
            <a:extLst>
              <a:ext uri="{FF2B5EF4-FFF2-40B4-BE49-F238E27FC236}">
                <a16:creationId xmlns:a16="http://schemas.microsoft.com/office/drawing/2014/main" id="{406E5268-BB11-33ED-DB94-5560A7B87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001169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62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Paradigmas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Segundo o dicionário Houaiss, </a:t>
            </a:r>
            <a:r>
              <a:rPr lang="pt-BR" u="sng" dirty="0"/>
              <a:t>paradigma significa modelo, padrão, exemplo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u="sng" dirty="0"/>
              <a:t>Conjuntos de regras que guiam os desenvolvedores na resolução de problemas</a:t>
            </a:r>
            <a:r>
              <a:rPr lang="pt-BR" dirty="0"/>
              <a:t> de forma organizada. </a:t>
            </a:r>
          </a:p>
          <a:p>
            <a:endParaRPr lang="pt-BR" dirty="0"/>
          </a:p>
          <a:p>
            <a:r>
              <a:rPr lang="pt-BR" dirty="0"/>
              <a:t>A POO é um paradigma de programação que usa os conceitos de Objetos e Classes como elementos para representar e processar os dados usados nas aplicações.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012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Surgimento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Conceitos de POO surgiram no final da década de 1960 com a linguagem Simula-68;</a:t>
            </a:r>
          </a:p>
          <a:p>
            <a:endParaRPr lang="pt-BR" dirty="0"/>
          </a:p>
          <a:p>
            <a:r>
              <a:rPr lang="pt-BR" dirty="0"/>
              <a:t>Sua popularização veio nas décadas de 80 e 90 com as linguagens C++ e Java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484112-D684-9F7B-7050-F65EBF55F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431" y="4673452"/>
            <a:ext cx="23812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2331E85-6646-AB58-5C86-E0C48F0B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48" y="4197054"/>
            <a:ext cx="3467584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8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14D44-01C8-BE98-A4F9-1DE7ECB3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Linguagens que são Orientadas a Objetos</a:t>
            </a:r>
          </a:p>
        </p:txBody>
      </p:sp>
      <p:pic>
        <p:nvPicPr>
          <p:cNvPr id="3074" name="Picture 2" descr="Design PNG E SVG De Ícone Da Linguagem De Programação Java Para Camisetas">
            <a:extLst>
              <a:ext uri="{FF2B5EF4-FFF2-40B4-BE49-F238E27FC236}">
                <a16:creationId xmlns:a16="http://schemas.microsoft.com/office/drawing/2014/main" id="{31784464-D4C9-5AA1-858D-7D1BFA4E2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845" y="2789977"/>
            <a:ext cx="1720099" cy="172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ícone de Python vertical logo">
            <a:extLst>
              <a:ext uri="{FF2B5EF4-FFF2-40B4-BE49-F238E27FC236}">
                <a16:creationId xmlns:a16="http://schemas.microsoft.com/office/drawing/2014/main" id="{77162CF4-FA57-8FF6-98AD-EE18C546C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493" y="2885722"/>
            <a:ext cx="1453009" cy="162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 ++ - ícones de ui grátis">
            <a:extLst>
              <a:ext uri="{FF2B5EF4-FFF2-40B4-BE49-F238E27FC236}">
                <a16:creationId xmlns:a16="http://schemas.microsoft.com/office/drawing/2014/main" id="{ECA1CF71-1334-CFFC-3DF2-1A92B5553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882" y="2914852"/>
            <a:ext cx="1595224" cy="159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Ícones, Logotipos, Símbolos de Csharp – Baixe gratuitamente em PNG, SVG">
            <a:extLst>
              <a:ext uri="{FF2B5EF4-FFF2-40B4-BE49-F238E27FC236}">
                <a16:creationId xmlns:a16="http://schemas.microsoft.com/office/drawing/2014/main" id="{F2E792AF-19F4-A87B-9161-DE35248CE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245" y="2764838"/>
            <a:ext cx="1866121" cy="186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76E237C-1E31-D7AD-A583-336D09798AB7}"/>
              </a:ext>
            </a:extLst>
          </p:cNvPr>
          <p:cNvSpPr/>
          <p:nvPr/>
        </p:nvSpPr>
        <p:spPr>
          <a:xfrm>
            <a:off x="957072" y="2580474"/>
            <a:ext cx="2352869" cy="214604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88497B2-1551-9F63-4F84-34FDA561BD30}"/>
              </a:ext>
            </a:extLst>
          </p:cNvPr>
          <p:cNvSpPr/>
          <p:nvPr/>
        </p:nvSpPr>
        <p:spPr>
          <a:xfrm>
            <a:off x="3589080" y="2580472"/>
            <a:ext cx="2352869" cy="214604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D982A59-1C14-03D7-D223-12C868539689}"/>
              </a:ext>
            </a:extLst>
          </p:cNvPr>
          <p:cNvSpPr/>
          <p:nvPr/>
        </p:nvSpPr>
        <p:spPr>
          <a:xfrm>
            <a:off x="6214872" y="2580472"/>
            <a:ext cx="2352869" cy="214604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0BAAC1-BD39-332B-AE29-EA847B5911FF}"/>
              </a:ext>
            </a:extLst>
          </p:cNvPr>
          <p:cNvSpPr/>
          <p:nvPr/>
        </p:nvSpPr>
        <p:spPr>
          <a:xfrm>
            <a:off x="8820444" y="2580472"/>
            <a:ext cx="2352869" cy="214604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35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Pilares da POO</a:t>
            </a:r>
          </a:p>
        </p:txBody>
      </p:sp>
      <p:pic>
        <p:nvPicPr>
          <p:cNvPr id="4098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41ADE0A0-D0E0-951D-C4EF-88C53E686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14" b="48730"/>
          <a:stretch/>
        </p:blipFill>
        <p:spPr bwMode="auto">
          <a:xfrm>
            <a:off x="627888" y="1353312"/>
            <a:ext cx="1387524" cy="152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903A3773-1F02-23EB-F461-97C085F5B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2" t="6414" b="48889"/>
          <a:stretch/>
        </p:blipFill>
        <p:spPr bwMode="auto">
          <a:xfrm>
            <a:off x="601171" y="3984172"/>
            <a:ext cx="1440958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E5822236-6C3C-9F89-AFF3-91D71C4617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2" t="50460"/>
          <a:stretch/>
        </p:blipFill>
        <p:spPr bwMode="auto">
          <a:xfrm>
            <a:off x="5840028" y="1378971"/>
            <a:ext cx="1440959" cy="146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DA157F81-ED20-2DB5-2551-488C053C1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" t="50000" r="55115" b="5304"/>
          <a:stretch/>
        </p:blipFill>
        <p:spPr bwMode="auto">
          <a:xfrm>
            <a:off x="5968013" y="3984171"/>
            <a:ext cx="118498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0D92EF-879F-2CF5-C2A5-C2B571B62A60}"/>
              </a:ext>
            </a:extLst>
          </p:cNvPr>
          <p:cNvSpPr txBox="1"/>
          <p:nvPr/>
        </p:nvSpPr>
        <p:spPr>
          <a:xfrm>
            <a:off x="2174033" y="1851960"/>
            <a:ext cx="1636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Abstração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414B0C-0E6F-0298-9F0B-6BA28162CC5C}"/>
              </a:ext>
            </a:extLst>
          </p:cNvPr>
          <p:cNvSpPr txBox="1"/>
          <p:nvPr/>
        </p:nvSpPr>
        <p:spPr>
          <a:xfrm>
            <a:off x="2174032" y="4385342"/>
            <a:ext cx="2596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Encapsulamento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074D67-626B-BE57-649B-A6D80D43F613}"/>
              </a:ext>
            </a:extLst>
          </p:cNvPr>
          <p:cNvSpPr txBox="1"/>
          <p:nvPr/>
        </p:nvSpPr>
        <p:spPr>
          <a:xfrm>
            <a:off x="7635572" y="1851960"/>
            <a:ext cx="1386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Herança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BA7E90D-BAF3-DA5F-1B3B-EB811298B98D}"/>
              </a:ext>
            </a:extLst>
          </p:cNvPr>
          <p:cNvSpPr txBox="1"/>
          <p:nvPr/>
        </p:nvSpPr>
        <p:spPr>
          <a:xfrm>
            <a:off x="7635572" y="4385342"/>
            <a:ext cx="2125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391318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7FFD3FD9-35E3-5538-DC25-77D3AF127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14" b="48730"/>
          <a:stretch/>
        </p:blipFill>
        <p:spPr bwMode="auto">
          <a:xfrm>
            <a:off x="702533" y="267647"/>
            <a:ext cx="1387524" cy="152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7128" y="365125"/>
            <a:ext cx="9186672" cy="1325563"/>
          </a:xfrm>
        </p:spPr>
        <p:txBody>
          <a:bodyPr/>
          <a:lstStyle/>
          <a:p>
            <a:r>
              <a:rPr lang="pt-BR" dirty="0">
                <a:solidFill>
                  <a:srgbClr val="2A4896"/>
                </a:solidFill>
              </a:rPr>
              <a:t>Abstração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abstração na POO é a capacidade de </a:t>
            </a:r>
            <a:r>
              <a:rPr lang="pt-BR" u="sng" dirty="0">
                <a:solidFill>
                  <a:srgbClr val="0070C0"/>
                </a:solidFill>
              </a:rPr>
              <a:t>ocultar detalhes irrelevantes </a:t>
            </a:r>
            <a:r>
              <a:rPr lang="pt-BR" dirty="0"/>
              <a:t>ou complexos de um problema e </a:t>
            </a:r>
            <a:r>
              <a:rPr lang="pt-BR" u="sng" dirty="0">
                <a:solidFill>
                  <a:srgbClr val="0070C0"/>
                </a:solidFill>
              </a:rPr>
              <a:t>focar nos aspectos essenciais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Ela é implementada por meio de </a:t>
            </a:r>
            <a:r>
              <a:rPr lang="pt-BR" b="1" dirty="0">
                <a:solidFill>
                  <a:srgbClr val="0070C0"/>
                </a:solidFill>
              </a:rPr>
              <a:t>classes</a:t>
            </a:r>
            <a:r>
              <a:rPr lang="pt-BR" dirty="0"/>
              <a:t>, que são </a:t>
            </a:r>
            <a:r>
              <a:rPr lang="pt-BR" dirty="0">
                <a:solidFill>
                  <a:srgbClr val="0070C0"/>
                </a:solidFill>
              </a:rPr>
              <a:t>modelos que descrevem os atributos e comportamentos comuns de um grupo de objetos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6121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661D1858-CA88-2063-3094-EB6F074B01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2" t="6414" b="48889"/>
          <a:stretch/>
        </p:blipFill>
        <p:spPr bwMode="auto">
          <a:xfrm>
            <a:off x="765763" y="490537"/>
            <a:ext cx="1440958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782B91-CDFD-2120-E936-73AF6AC8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856" y="365125"/>
            <a:ext cx="9076944" cy="1325563"/>
          </a:xfrm>
        </p:spPr>
        <p:txBody>
          <a:bodyPr/>
          <a:lstStyle/>
          <a:p>
            <a:r>
              <a:rPr lang="pt-BR" dirty="0">
                <a:solidFill>
                  <a:srgbClr val="682B88"/>
                </a:solidFill>
              </a:rPr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0B0AEA-1CAB-D3EF-5070-335E41927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8783"/>
          </a:xfrm>
        </p:spPr>
        <p:txBody>
          <a:bodyPr/>
          <a:lstStyle/>
          <a:p>
            <a:r>
              <a:rPr lang="pt-BR" dirty="0">
                <a:solidFill>
                  <a:srgbClr val="0070C0"/>
                </a:solidFill>
              </a:rPr>
              <a:t>Proteger os dados internos de um objeto</a:t>
            </a:r>
            <a:r>
              <a:rPr lang="pt-BR" dirty="0"/>
              <a:t>, permitindo </a:t>
            </a:r>
            <a:r>
              <a:rPr lang="pt-BR" dirty="0">
                <a:solidFill>
                  <a:srgbClr val="0070C0"/>
                </a:solidFill>
              </a:rPr>
              <a:t>acesso apenas através de métodos definidos</a:t>
            </a:r>
            <a:r>
              <a:rPr lang="pt-BR" dirty="0"/>
              <a:t>, aumentando a segurança e manutenção.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E2601BE-0E3E-A4FB-86B5-E05236F62FC7}"/>
              </a:ext>
            </a:extLst>
          </p:cNvPr>
          <p:cNvSpPr txBox="1">
            <a:spLocks/>
          </p:cNvSpPr>
          <p:nvPr/>
        </p:nvSpPr>
        <p:spPr>
          <a:xfrm>
            <a:off x="838200" y="3435096"/>
            <a:ext cx="5257800" cy="1438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Modificadores de acesso:</a:t>
            </a:r>
          </a:p>
          <a:p>
            <a:pPr marL="457200" lvl="1" indent="0">
              <a:buNone/>
            </a:pPr>
            <a:r>
              <a:rPr lang="pt-BR" dirty="0">
                <a:solidFill>
                  <a:srgbClr val="0070C0"/>
                </a:solidFill>
              </a:rPr>
              <a:t>+ </a:t>
            </a:r>
            <a:r>
              <a:rPr lang="pt-BR" dirty="0" err="1">
                <a:solidFill>
                  <a:srgbClr val="0070C0"/>
                </a:solidFill>
              </a:rPr>
              <a:t>public</a:t>
            </a:r>
            <a:endParaRPr lang="pt-BR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pt-BR" dirty="0">
                <a:solidFill>
                  <a:srgbClr val="0070C0"/>
                </a:solidFill>
              </a:rPr>
              <a:t>-  </a:t>
            </a:r>
            <a:r>
              <a:rPr lang="pt-BR" dirty="0" err="1">
                <a:solidFill>
                  <a:srgbClr val="0070C0"/>
                </a:solidFill>
              </a:rPr>
              <a:t>private</a:t>
            </a:r>
            <a:endParaRPr lang="pt-BR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pt-BR" dirty="0">
                <a:solidFill>
                  <a:srgbClr val="0070C0"/>
                </a:solidFill>
              </a:rPr>
              <a:t># </a:t>
            </a:r>
            <a:r>
              <a:rPr lang="pt-BR" dirty="0" err="1">
                <a:solidFill>
                  <a:srgbClr val="0070C0"/>
                </a:solidFill>
              </a:rPr>
              <a:t>protected</a:t>
            </a:r>
            <a:endParaRPr lang="pt-BR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pt-BR" dirty="0">
                <a:solidFill>
                  <a:srgbClr val="0070C0"/>
                </a:solidFill>
              </a:rPr>
              <a:t>~ default</a:t>
            </a: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F01BD60-B473-1464-D9A0-E1BF759DAECE}"/>
              </a:ext>
            </a:extLst>
          </p:cNvPr>
          <p:cNvSpPr txBox="1">
            <a:spLocks/>
          </p:cNvSpPr>
          <p:nvPr/>
        </p:nvSpPr>
        <p:spPr>
          <a:xfrm>
            <a:off x="6096000" y="3438969"/>
            <a:ext cx="5257800" cy="1438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Getter</a:t>
            </a:r>
            <a:r>
              <a:rPr lang="pt-BR" dirty="0"/>
              <a:t> e </a:t>
            </a:r>
            <a:r>
              <a:rPr lang="pt-BR" dirty="0" err="1"/>
              <a:t>Setters</a:t>
            </a:r>
            <a:r>
              <a:rPr lang="pt-BR" dirty="0"/>
              <a:t> - métodos públicos utilizados para:</a:t>
            </a:r>
          </a:p>
          <a:p>
            <a:pPr lvl="1"/>
            <a:r>
              <a:rPr lang="pt-BR" dirty="0"/>
              <a:t>Ler (</a:t>
            </a:r>
            <a:r>
              <a:rPr lang="pt-BR" dirty="0" err="1"/>
              <a:t>get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Modificar (set)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FC4FD8-50C0-354B-DE63-7D55D442E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9335"/>
          <a:stretch/>
        </p:blipFill>
        <p:spPr>
          <a:xfrm>
            <a:off x="4581313" y="4616188"/>
            <a:ext cx="183777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4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EA4B9B52-B9D6-D6CE-C106-B9E098EF22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2" t="50460"/>
          <a:stretch/>
        </p:blipFill>
        <p:spPr bwMode="auto">
          <a:xfrm>
            <a:off x="616441" y="365125"/>
            <a:ext cx="1440959" cy="146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73BF9D-14A3-DF37-2C69-32ACC6F9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5125"/>
            <a:ext cx="9296400" cy="1325563"/>
          </a:xfrm>
        </p:spPr>
        <p:txBody>
          <a:bodyPr/>
          <a:lstStyle/>
          <a:p>
            <a:r>
              <a:rPr lang="pt-BR" dirty="0">
                <a:solidFill>
                  <a:srgbClr val="56823A"/>
                </a:solidFill>
              </a:rPr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F5624F-7449-D488-2AB5-C0CCBA683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que novas classes (</a:t>
            </a:r>
            <a:r>
              <a:rPr lang="pt-BR" dirty="0">
                <a:solidFill>
                  <a:srgbClr val="56823A"/>
                </a:solidFill>
              </a:rPr>
              <a:t>subclasses</a:t>
            </a:r>
            <a:r>
              <a:rPr lang="pt-BR" dirty="0"/>
              <a:t>) </a:t>
            </a:r>
            <a:r>
              <a:rPr lang="pt-BR" u="sng" dirty="0">
                <a:solidFill>
                  <a:srgbClr val="56823A"/>
                </a:solidFill>
              </a:rPr>
              <a:t>reutilizem atributos e métodos de classes existentes</a:t>
            </a:r>
            <a:r>
              <a:rPr lang="pt-BR" dirty="0">
                <a:solidFill>
                  <a:srgbClr val="56823A"/>
                </a:solidFill>
              </a:rPr>
              <a:t> </a:t>
            </a:r>
            <a:r>
              <a:rPr lang="pt-BR" dirty="0"/>
              <a:t>(</a:t>
            </a:r>
            <a:r>
              <a:rPr lang="pt-BR" dirty="0">
                <a:solidFill>
                  <a:srgbClr val="56823A"/>
                </a:solidFill>
              </a:rPr>
              <a:t>superclasses</a:t>
            </a:r>
            <a:r>
              <a:rPr lang="pt-BR" dirty="0"/>
              <a:t>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29EC5C-4DA3-0AE4-524F-65FC84E25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97" y="3237041"/>
            <a:ext cx="4344006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37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1CCF1-28A2-ECE0-A50C-57E8B82D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86" y="365125"/>
            <a:ext cx="9133114" cy="1325563"/>
          </a:xfrm>
        </p:spPr>
        <p:txBody>
          <a:bodyPr/>
          <a:lstStyle/>
          <a:p>
            <a:r>
              <a:rPr lang="pt-BR" dirty="0">
                <a:solidFill>
                  <a:srgbClr val="EE5B2E"/>
                </a:solidFill>
              </a:rPr>
              <a:t>Polimorfismo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382CE4-41A6-489B-B5F6-E0F7EAF02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4735"/>
          </a:xfrm>
        </p:spPr>
        <p:txBody>
          <a:bodyPr/>
          <a:lstStyle/>
          <a:p>
            <a:r>
              <a:rPr lang="pt-BR" dirty="0"/>
              <a:t> Capacidade de </a:t>
            </a:r>
            <a:r>
              <a:rPr lang="pt-BR" dirty="0">
                <a:solidFill>
                  <a:srgbClr val="EE5B2E"/>
                </a:solidFill>
              </a:rPr>
              <a:t>objetos de diferentes classes responderem a mesma mensagem (método) de maneiras diferentes</a:t>
            </a:r>
            <a:r>
              <a:rPr lang="pt-BR" dirty="0"/>
              <a:t>.</a:t>
            </a:r>
          </a:p>
        </p:txBody>
      </p:sp>
      <p:pic>
        <p:nvPicPr>
          <p:cNvPr id="4" name="Picture 2" descr="pilar logo template icon set vector 4940674 Vetor no Vecteezy">
            <a:extLst>
              <a:ext uri="{FF2B5EF4-FFF2-40B4-BE49-F238E27FC236}">
                <a16:creationId xmlns:a16="http://schemas.microsoft.com/office/drawing/2014/main" id="{6C613C10-08E0-4483-8DEF-313ADC7F6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" t="50000" r="55115" b="5304"/>
          <a:stretch/>
        </p:blipFill>
        <p:spPr bwMode="auto">
          <a:xfrm>
            <a:off x="838200" y="365124"/>
            <a:ext cx="118498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948D66C-E6F1-BF03-86CC-059632355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27" y="2880360"/>
            <a:ext cx="4701346" cy="30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1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8306C-ABC2-DACF-DFC6-F531647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da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2CEDA8-A75B-DEA7-8970-A042B3A61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Reutilização de código</a:t>
            </a:r>
          </a:p>
          <a:p>
            <a:r>
              <a:rPr lang="pt-BR" dirty="0"/>
              <a:t>Manutenção fácil</a:t>
            </a:r>
          </a:p>
          <a:p>
            <a:r>
              <a:rPr lang="pt-BR" dirty="0"/>
              <a:t>Organização</a:t>
            </a:r>
          </a:p>
          <a:p>
            <a:r>
              <a:rPr lang="pt-BR" dirty="0"/>
              <a:t>Robustez</a:t>
            </a:r>
          </a:p>
          <a:p>
            <a:r>
              <a:rPr lang="pt-BR" dirty="0"/>
              <a:t>Segurança</a:t>
            </a:r>
          </a:p>
          <a:p>
            <a:endParaRPr lang="pt-BR" dirty="0"/>
          </a:p>
          <a:p>
            <a:pPr algn="just"/>
            <a:r>
              <a:rPr lang="pt-BR" sz="1400" dirty="0"/>
              <a:t>Segurança e robustez eram os objetivos principais do projeto quando Java foi criado. C e C++ sofriam de má utilização de ponteiros e no gerenciamento de memória e de estouro de buffer. Java foi projetado pra resolver esses problemas e muitos outros. (Java foi projetado para não ter ponteiros explícitos). As variáveis Java armazenam referências a objetos, mas não permitem acessar ou modificar, o endereço de memória armazenado na referência. Isso simplificou o desenvolvimento e removeu um nível de complexidade que era com frequência fonte de instabilidade de aplicativos. O gerenciamento de memória foi resolvido em Java com o coletor de lixo interno da JVM (</a:t>
            </a:r>
            <a:r>
              <a:rPr lang="pt-BR" sz="1400" i="1" dirty="0" err="1"/>
              <a:t>garbage</a:t>
            </a:r>
            <a:r>
              <a:rPr lang="pt-BR" sz="1400" i="1" dirty="0"/>
              <a:t> </a:t>
            </a:r>
            <a:r>
              <a:rPr lang="pt-BR" sz="1400" i="1" dirty="0" err="1"/>
              <a:t>collector</a:t>
            </a:r>
            <a:r>
              <a:rPr lang="pt-BR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8646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é a </a:t>
            </a:r>
            <a:r>
              <a:rPr lang="pt-BR" u="sng" dirty="0">
                <a:solidFill>
                  <a:srgbClr val="0070C0"/>
                </a:solidFill>
              </a:rPr>
              <a:t>estrutura</a:t>
            </a:r>
            <a:r>
              <a:rPr lang="pt-BR" u="sng" dirty="0"/>
              <a:t> que descreve o </a:t>
            </a:r>
            <a:r>
              <a:rPr lang="pt-BR" u="sng" dirty="0">
                <a:solidFill>
                  <a:srgbClr val="0070C0"/>
                </a:solidFill>
              </a:rPr>
              <a:t>comportamento</a:t>
            </a:r>
            <a:r>
              <a:rPr lang="pt-BR" u="sng" dirty="0"/>
              <a:t> e as </a:t>
            </a:r>
            <a:r>
              <a:rPr lang="pt-BR" u="sng" dirty="0">
                <a:solidFill>
                  <a:srgbClr val="0070C0"/>
                </a:solidFill>
              </a:rPr>
              <a:t>características</a:t>
            </a:r>
            <a:r>
              <a:rPr lang="pt-BR" u="sng" dirty="0"/>
              <a:t> que os objetos criados a partir dela terão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Cada classe funciona no fundo como um molde para a criação de um dado objeto.</a:t>
            </a:r>
          </a:p>
        </p:txBody>
      </p:sp>
    </p:spTree>
    <p:extLst>
      <p:ext uri="{BB962C8B-B14F-4D97-AF65-F5344CB8AC3E}">
        <p14:creationId xmlns:p14="http://schemas.microsoft.com/office/powerpoint/2010/main" val="382476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4E28EBD-E1C6-AB23-0240-B012EA9D4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Na POO, objetos são utilizados para representar entidades do mundo real ou computacional.</a:t>
            </a:r>
          </a:p>
          <a:p>
            <a:endParaRPr lang="pt-BR" dirty="0"/>
          </a:p>
          <a:p>
            <a:r>
              <a:rPr lang="pt-BR" dirty="0"/>
              <a:t>Se observarmos ao nosso redor, veremos várias entidades ou abstrações as quais podem ser representadas como objetos no nosso programa.</a:t>
            </a:r>
          </a:p>
          <a:p>
            <a:endParaRPr lang="pt-BR" dirty="0"/>
          </a:p>
          <a:p>
            <a:r>
              <a:rPr lang="pt-BR" dirty="0"/>
              <a:t>Os objetos possuem:</a:t>
            </a:r>
          </a:p>
          <a:p>
            <a:pPr lvl="1"/>
            <a:r>
              <a:rPr lang="pt-BR" dirty="0">
                <a:solidFill>
                  <a:srgbClr val="FE7B9D"/>
                </a:solidFill>
              </a:rPr>
              <a:t>Características</a:t>
            </a:r>
            <a:r>
              <a:rPr lang="pt-BR" dirty="0"/>
              <a:t> pelas quais os identificamos</a:t>
            </a:r>
          </a:p>
          <a:p>
            <a:pPr lvl="1"/>
            <a:r>
              <a:rPr lang="pt-BR" dirty="0">
                <a:solidFill>
                  <a:srgbClr val="249FDA"/>
                </a:solidFill>
              </a:rPr>
              <a:t>Finalidade</a:t>
            </a:r>
            <a:r>
              <a:rPr lang="pt-BR" dirty="0"/>
              <a:t> para as quais os utilizamos</a:t>
            </a:r>
          </a:p>
          <a:p>
            <a:pPr lvl="1"/>
            <a:endParaRPr lang="pt-BR" dirty="0"/>
          </a:p>
          <a:p>
            <a:r>
              <a:rPr lang="pt-BR" dirty="0"/>
              <a:t>Os objetos são vistos como representações concretas (instâncias) das classes.</a:t>
            </a:r>
          </a:p>
        </p:txBody>
      </p:sp>
    </p:spTree>
    <p:extLst>
      <p:ext uri="{BB962C8B-B14F-4D97-AF65-F5344CB8AC3E}">
        <p14:creationId xmlns:p14="http://schemas.microsoft.com/office/powerpoint/2010/main" val="278828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características são tipicamente chamadas de atributos.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O objeto Pessoa possui nome, </a:t>
            </a:r>
            <a:r>
              <a:rPr lang="pt-BR" dirty="0" err="1"/>
              <a:t>email</a:t>
            </a:r>
            <a:r>
              <a:rPr lang="pt-BR" dirty="0"/>
              <a:t>, </a:t>
            </a:r>
            <a:r>
              <a:rPr lang="pt-BR" dirty="0" err="1"/>
              <a:t>cpf</a:t>
            </a:r>
            <a:r>
              <a:rPr lang="pt-BR" dirty="0"/>
              <a:t>, </a:t>
            </a:r>
            <a:r>
              <a:rPr lang="pt-BR" dirty="0" err="1"/>
              <a:t>dataNascimento</a:t>
            </a:r>
            <a:r>
              <a:rPr lang="pt-BR" dirty="0"/>
              <a:t> etc.</a:t>
            </a:r>
          </a:p>
          <a:p>
            <a:pPr lvl="1"/>
            <a:r>
              <a:rPr lang="pt-BR" dirty="0"/>
              <a:t>O objeto Carro possui modelo, fabricante, cor, </a:t>
            </a:r>
            <a:r>
              <a:rPr lang="pt-BR" dirty="0" err="1"/>
              <a:t>quantidadeDePortas</a:t>
            </a:r>
            <a:r>
              <a:rPr lang="pt-BR" dirty="0"/>
              <a:t> etc.</a:t>
            </a:r>
          </a:p>
        </p:txBody>
      </p:sp>
      <p:pic>
        <p:nvPicPr>
          <p:cNvPr id="2052" name="Picture 4" descr="Vetores de Desenho pessoa - Baixe vetores grátis de alta qualidade do  Freepik | Freepik">
            <a:extLst>
              <a:ext uri="{FF2B5EF4-FFF2-40B4-BE49-F238E27FC236}">
                <a16:creationId xmlns:a16="http://schemas.microsoft.com/office/drawing/2014/main" id="{7C273A27-74AB-B9D8-FF33-0E2BDB55C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12" r="8957" b="50000"/>
          <a:stretch/>
        </p:blipFill>
        <p:spPr bwMode="auto">
          <a:xfrm>
            <a:off x="838200" y="4278183"/>
            <a:ext cx="1451857" cy="18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D661CE-70E6-D8C6-ACBD-B913F97994EA}"/>
              </a:ext>
            </a:extLst>
          </p:cNvPr>
          <p:cNvSpPr txBox="1"/>
          <p:nvPr/>
        </p:nvSpPr>
        <p:spPr>
          <a:xfrm>
            <a:off x="2401487" y="4627408"/>
            <a:ext cx="29469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E7B9D"/>
                </a:solidFill>
              </a:rPr>
              <a:t>nome</a:t>
            </a:r>
            <a:r>
              <a:rPr lang="pt-BR" dirty="0"/>
              <a:t>:  Maria</a:t>
            </a:r>
          </a:p>
          <a:p>
            <a:r>
              <a:rPr lang="pt-BR" dirty="0" err="1">
                <a:solidFill>
                  <a:srgbClr val="FE7B9D"/>
                </a:solidFill>
              </a:rPr>
              <a:t>email</a:t>
            </a:r>
            <a:r>
              <a:rPr lang="pt-BR" dirty="0"/>
              <a:t>: maria@gmail.com</a:t>
            </a:r>
          </a:p>
          <a:p>
            <a:r>
              <a:rPr lang="pt-BR" dirty="0" err="1">
                <a:solidFill>
                  <a:srgbClr val="FE7B9D"/>
                </a:solidFill>
              </a:rPr>
              <a:t>cpf</a:t>
            </a:r>
            <a:r>
              <a:rPr lang="pt-BR" dirty="0"/>
              <a:t>: 213.546.798-21</a:t>
            </a:r>
          </a:p>
          <a:p>
            <a:r>
              <a:rPr lang="pt-BR" dirty="0" err="1">
                <a:solidFill>
                  <a:srgbClr val="FE7B9D"/>
                </a:solidFill>
              </a:rPr>
              <a:t>dataNascimento</a:t>
            </a:r>
            <a:r>
              <a:rPr lang="pt-BR" dirty="0"/>
              <a:t>: 26/09/2001</a:t>
            </a:r>
          </a:p>
        </p:txBody>
      </p:sp>
      <p:pic>
        <p:nvPicPr>
          <p:cNvPr id="2054" name="Picture 6" descr="uma desenho animado carro com uma sorridente face 47304397 Vetor no Vecteezy">
            <a:extLst>
              <a:ext uri="{FF2B5EF4-FFF2-40B4-BE49-F238E27FC236}">
                <a16:creationId xmlns:a16="http://schemas.microsoft.com/office/drawing/2014/main" id="{D570B8DB-3B0E-EAD4-F577-0B72A051D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4674791"/>
            <a:ext cx="1451858" cy="115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C243AF4-F3DE-A389-528A-E4B0CAE404C6}"/>
              </a:ext>
            </a:extLst>
          </p:cNvPr>
          <p:cNvSpPr txBox="1"/>
          <p:nvPr/>
        </p:nvSpPr>
        <p:spPr>
          <a:xfrm>
            <a:off x="7829975" y="4627407"/>
            <a:ext cx="2385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49FDA"/>
                </a:solidFill>
              </a:rPr>
              <a:t>modelo</a:t>
            </a:r>
            <a:r>
              <a:rPr lang="pt-BR" dirty="0"/>
              <a:t>:  Fusca</a:t>
            </a:r>
          </a:p>
          <a:p>
            <a:r>
              <a:rPr lang="pt-BR" dirty="0">
                <a:solidFill>
                  <a:srgbClr val="249FDA"/>
                </a:solidFill>
              </a:rPr>
              <a:t>fabricante:</a:t>
            </a:r>
            <a:r>
              <a:rPr lang="pt-BR" dirty="0"/>
              <a:t> Volkswagen</a:t>
            </a:r>
          </a:p>
          <a:p>
            <a:r>
              <a:rPr lang="pt-BR" dirty="0">
                <a:solidFill>
                  <a:srgbClr val="249FDA"/>
                </a:solidFill>
              </a:rPr>
              <a:t>cor:</a:t>
            </a:r>
            <a:r>
              <a:rPr lang="pt-BR" dirty="0"/>
              <a:t> azul</a:t>
            </a:r>
          </a:p>
          <a:p>
            <a:r>
              <a:rPr lang="pt-BR" dirty="0" err="1">
                <a:solidFill>
                  <a:srgbClr val="249FDA"/>
                </a:solidFill>
              </a:rPr>
              <a:t>quantidadeDePortas</a:t>
            </a:r>
            <a:r>
              <a:rPr lang="pt-BR" dirty="0">
                <a:solidFill>
                  <a:srgbClr val="249FDA"/>
                </a:solidFill>
              </a:rPr>
              <a:t>:</a:t>
            </a:r>
            <a:r>
              <a:rPr lang="pt-BR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922848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Objetos podem também ter </a:t>
            </a:r>
            <a:r>
              <a:rPr lang="pt-BR" dirty="0">
                <a:solidFill>
                  <a:srgbClr val="0070C0"/>
                </a:solidFill>
              </a:rPr>
              <a:t>comportamentos</a:t>
            </a:r>
            <a:r>
              <a:rPr lang="pt-BR" dirty="0"/>
              <a:t> associados.</a:t>
            </a:r>
          </a:p>
          <a:p>
            <a:pPr lvl="1"/>
            <a:r>
              <a:rPr lang="pt-BR" dirty="0"/>
              <a:t>Um objeto do tipo Pessoa pode </a:t>
            </a:r>
            <a:r>
              <a:rPr lang="pt-BR" dirty="0">
                <a:solidFill>
                  <a:srgbClr val="FE7B9D"/>
                </a:solidFill>
              </a:rPr>
              <a:t>andar, correr, falar, dormir </a:t>
            </a:r>
            <a:r>
              <a:rPr lang="pt-BR" dirty="0"/>
              <a:t>etc.</a:t>
            </a:r>
          </a:p>
          <a:p>
            <a:pPr lvl="1"/>
            <a:r>
              <a:rPr lang="pt-BR" dirty="0"/>
              <a:t>Um objeto do tipo Carro pode </a:t>
            </a:r>
            <a:r>
              <a:rPr lang="pt-BR" dirty="0">
                <a:solidFill>
                  <a:srgbClr val="0070C0"/>
                </a:solidFill>
              </a:rPr>
              <a:t>ligar, desligar, acelerar, frear </a:t>
            </a:r>
            <a:r>
              <a:rPr lang="pt-BR" dirty="0"/>
              <a:t>etc.</a:t>
            </a:r>
          </a:p>
        </p:txBody>
      </p:sp>
      <p:pic>
        <p:nvPicPr>
          <p:cNvPr id="5" name="Picture 4" descr="Vetores de Desenho pessoa - Baixe vetores grátis de alta qualidade do  Freepik | Freepik">
            <a:extLst>
              <a:ext uri="{FF2B5EF4-FFF2-40B4-BE49-F238E27FC236}">
                <a16:creationId xmlns:a16="http://schemas.microsoft.com/office/drawing/2014/main" id="{96E691E3-3AF4-4131-4B19-A5058BB74A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12" r="8957" b="50000"/>
          <a:stretch/>
        </p:blipFill>
        <p:spPr bwMode="auto">
          <a:xfrm>
            <a:off x="838200" y="4278183"/>
            <a:ext cx="1451857" cy="18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43848DE-ED87-3497-F341-2A16257C5401}"/>
              </a:ext>
            </a:extLst>
          </p:cNvPr>
          <p:cNvSpPr txBox="1"/>
          <p:nvPr/>
        </p:nvSpPr>
        <p:spPr>
          <a:xfrm>
            <a:off x="2401487" y="4627408"/>
            <a:ext cx="9669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E7B9D"/>
                </a:solidFill>
              </a:rPr>
              <a:t>andar()</a:t>
            </a:r>
            <a:endParaRPr lang="pt-BR" dirty="0"/>
          </a:p>
          <a:p>
            <a:r>
              <a:rPr lang="pt-BR" dirty="0">
                <a:solidFill>
                  <a:srgbClr val="FE7B9D"/>
                </a:solidFill>
              </a:rPr>
              <a:t>correr()</a:t>
            </a:r>
            <a:r>
              <a:rPr lang="pt-BR" dirty="0"/>
              <a:t> </a:t>
            </a:r>
          </a:p>
          <a:p>
            <a:r>
              <a:rPr lang="pt-BR" dirty="0">
                <a:solidFill>
                  <a:srgbClr val="FE7B9D"/>
                </a:solidFill>
              </a:rPr>
              <a:t>falar()</a:t>
            </a:r>
            <a:r>
              <a:rPr lang="pt-BR" dirty="0"/>
              <a:t> </a:t>
            </a:r>
          </a:p>
          <a:p>
            <a:r>
              <a:rPr lang="pt-BR" dirty="0">
                <a:solidFill>
                  <a:srgbClr val="FE7B9D"/>
                </a:solidFill>
              </a:rPr>
              <a:t>dormir()</a:t>
            </a:r>
            <a:endParaRPr lang="pt-BR" dirty="0"/>
          </a:p>
        </p:txBody>
      </p:sp>
      <p:pic>
        <p:nvPicPr>
          <p:cNvPr id="7" name="Picture 6" descr="uma desenho animado carro com uma sorridente face 47304397 Vetor no Vecteezy">
            <a:extLst>
              <a:ext uri="{FF2B5EF4-FFF2-40B4-BE49-F238E27FC236}">
                <a16:creationId xmlns:a16="http://schemas.microsoft.com/office/drawing/2014/main" id="{D6D4E120-8AF5-799B-0065-07581F61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4674791"/>
            <a:ext cx="1451858" cy="115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DF2655F-3EDE-70A3-C557-621871DD3322}"/>
              </a:ext>
            </a:extLst>
          </p:cNvPr>
          <p:cNvSpPr txBox="1"/>
          <p:nvPr/>
        </p:nvSpPr>
        <p:spPr>
          <a:xfrm>
            <a:off x="7829975" y="4627407"/>
            <a:ext cx="1084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49FDA"/>
                </a:solidFill>
              </a:rPr>
              <a:t>ligar()</a:t>
            </a:r>
            <a:endParaRPr lang="pt-BR" dirty="0"/>
          </a:p>
          <a:p>
            <a:r>
              <a:rPr lang="pt-BR" dirty="0">
                <a:solidFill>
                  <a:srgbClr val="249FDA"/>
                </a:solidFill>
              </a:rPr>
              <a:t>desligar()</a:t>
            </a:r>
            <a:endParaRPr lang="pt-BR" dirty="0"/>
          </a:p>
          <a:p>
            <a:r>
              <a:rPr lang="pt-BR" dirty="0">
                <a:solidFill>
                  <a:srgbClr val="249FDA"/>
                </a:solidFill>
              </a:rPr>
              <a:t>acelerar()</a:t>
            </a:r>
            <a:endParaRPr lang="pt-BR" dirty="0"/>
          </a:p>
          <a:p>
            <a:r>
              <a:rPr lang="pt-BR" dirty="0">
                <a:solidFill>
                  <a:srgbClr val="249FDA"/>
                </a:solidFill>
              </a:rPr>
              <a:t>frear()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4688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1C5AD-E4CC-1DFA-D60C-B32C950B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07549-7071-C930-81C5-BF6C3E4D6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100+] Papel De Parede Para Celular Gratis That's All Folks | Wallpapers.com">
            <a:extLst>
              <a:ext uri="{FF2B5EF4-FFF2-40B4-BE49-F238E27FC236}">
                <a16:creationId xmlns:a16="http://schemas.microsoft.com/office/drawing/2014/main" id="{1218302B-549C-A1E1-CFC2-AFABD7306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670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454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595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POO</vt:lpstr>
      <vt:lpstr>Paradigmas de Programação</vt:lpstr>
      <vt:lpstr>Surgimento</vt:lpstr>
      <vt:lpstr>Algumas Linguagens que são Orientadas a Objetos</vt:lpstr>
      <vt:lpstr>Pilares da POO</vt:lpstr>
      <vt:lpstr>Abstração</vt:lpstr>
      <vt:lpstr>Encapsulamento</vt:lpstr>
      <vt:lpstr>Herança</vt:lpstr>
      <vt:lpstr>Polimorfismo</vt:lpstr>
      <vt:lpstr>Vantagens da POO</vt:lpstr>
      <vt:lpstr>Classe</vt:lpstr>
      <vt:lpstr>Objetos</vt:lpstr>
      <vt:lpstr>Atributos</vt:lpstr>
      <vt:lpstr>Métodos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</dc:creator>
  <cp:lastModifiedBy>Allan Vidal de Negreiros</cp:lastModifiedBy>
  <cp:revision>51</cp:revision>
  <dcterms:created xsi:type="dcterms:W3CDTF">2025-02-19T15:12:33Z</dcterms:created>
  <dcterms:modified xsi:type="dcterms:W3CDTF">2026-02-19T20:15:31Z</dcterms:modified>
</cp:coreProperties>
</file>