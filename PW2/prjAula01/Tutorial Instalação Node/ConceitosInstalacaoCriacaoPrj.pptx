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7E38"/>
    <a:srgbClr val="84E26A"/>
    <a:srgbClr val="0777B9"/>
    <a:srgbClr val="FF3399"/>
    <a:srgbClr val="0068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FCEA59-C9B2-EF3C-628A-617CA618D3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326AE7-B058-DDC9-D87F-2B6023ED26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9275E3-384F-2AD9-68B5-4B1012453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2B5D6E-04C1-90EA-823A-93EF87273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E367293-602C-BBF1-8BA2-A0A035D0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775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CFA5CB-7AAC-E027-16F3-4E08F897F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82C467-1DBF-B5C7-1C0B-DC444E39BF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050CFF-9BE3-170D-467F-945008B15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ED8C4B4-0EFD-2062-697F-3B6672544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0127F6-2A8E-F3AA-2C08-80AB2B558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2227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34BF6-4FCA-783A-F496-9B4523C91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BEB7C62-3DFB-4727-7F42-7DB5A858DB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CD9705-9DA3-0A0F-C250-31563369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4840F2B-2F3B-96C5-C1CD-F8C907C9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B885D5-565B-B349-FF32-A4F4691A9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029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4CCE97-F0AD-B3AB-DC04-A9E1856D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C7B9D1-E024-BDB9-656B-E927524D0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B67FE8-E86A-9632-280A-C9640022B2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A60802-E3CF-2EEB-EAD6-218E51BDA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DEED62-D7B9-34BE-0F54-223ABA601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8EF07B-86E8-49CD-A349-ABDF0613A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53213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92E32B-E32A-52C1-AD66-F224DDE5B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C4E853-D407-19A4-9CCB-28F61125B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2F6933-ED8A-0511-8192-852B3ABB3A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F817AB1-9B0A-3708-854D-DD4F960F3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1DE75A7-8D0F-C24D-B779-CA79165E31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0D3DB6B-A1E8-96C6-4B96-66219B8BF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DE58053-B0A5-25ED-D957-FCE064DFD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DA613D9-E28F-5DB9-473B-D91F22F9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3598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2889E4-4C9E-E1BC-96DA-5CFBC8354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15F553C-B0D1-E216-BF88-2217B6572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612221D-6667-F03D-1903-66B89F13C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9AE5D63-E2A2-58A6-8729-D26E6ABF9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439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257024-D449-BBA8-10CC-9DB356402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1D3C1B3-D233-68F7-02B9-A85B3D48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3DB5A6-4855-1273-2579-89D99CA92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21702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9A325-9AC6-936A-7E66-02DFEEEB4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B4A141-8A78-6B64-2BCA-48C1082A1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53DF60-7935-B3BF-5436-4D5192DB6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18FC7B4-C269-360F-5134-06B227FB9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FC43166-6587-B353-0B35-7C0F7A5C0B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9C4250-66A4-CAFF-6B7D-312BC43E1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0074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9F9007-9C7B-A8A0-5320-4437BC90C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FAC9C96-727A-B6CE-50FF-CB4EEF3B9B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AB71327-6A57-0870-7812-3D3B0272B7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17DF06-D38A-D554-DE08-C6379939B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0EC0FF6-C5B2-7965-250D-1F658525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3E56FE-408A-E1B6-A2BE-77CD7C0C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5624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A4877-0E11-8B8A-715F-2413F392F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43B7F49-2BAC-20AF-ECC5-DE006837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F6DA041-3FD4-BA8F-E344-D00929D85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35724F-4FC4-E9B8-234E-9FED7F3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4393914-B457-657D-7D7D-241C7866A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88069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AB5BFFE-D546-50FB-A1D1-B21167B4E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177F61E-8984-40CA-3927-4AC52F97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C2C6F2-35C7-C1D0-4E9E-737437B71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7A5D6BC-CA14-458B-69A9-0599CD42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007758A-2A37-EBBB-E253-941E3413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232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BFDF79-AE27-3DBA-CC39-D777E8359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3C916B6-4B47-0372-CA7A-89F70A234C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3095A3-5DA1-D7A0-039D-8F11A37719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2F39FC-F9BB-4B80-BE60-B124A5E031D0}" type="datetimeFigureOut">
              <a:rPr lang="pt-BR" smtClean="0"/>
              <a:t>24/02/2026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8C5C68-468C-7C39-6AAB-51122872B6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57B1B3-E91A-64D5-A4A3-C214BE41DB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982726-A4F9-4E58-9EFE-29AB6A73DE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4686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nodejs.org/en/download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expressjs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pmjs.com/package/nodemo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Node.js Wallpapers - Wallpaper Cave">
            <a:extLst>
              <a:ext uri="{FF2B5EF4-FFF2-40B4-BE49-F238E27FC236}">
                <a16:creationId xmlns:a16="http://schemas.microsoft.com/office/drawing/2014/main" id="{15F42C0F-0A04-7BBB-6C19-5906925F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6E681A3-29D6-4335-6998-42B05DA12B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5207" y="353681"/>
            <a:ext cx="9144000" cy="1008303"/>
          </a:xfrm>
        </p:spPr>
        <p:txBody>
          <a:bodyPr/>
          <a:lstStyle/>
          <a:p>
            <a:r>
              <a:rPr lang="pt-BR" dirty="0">
                <a:solidFill>
                  <a:schemeClr val="bg1"/>
                </a:solidFill>
              </a:rPr>
              <a:t>Programação Web II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5117C-CAC0-0801-0EEF-FF94C870CC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3231" y="5586114"/>
            <a:ext cx="9144000" cy="650785"/>
          </a:xfrm>
        </p:spPr>
        <p:txBody>
          <a:bodyPr/>
          <a:lstStyle/>
          <a:p>
            <a:r>
              <a:rPr lang="pt-BR" dirty="0">
                <a:solidFill>
                  <a:srgbClr val="84E26A"/>
                </a:solidFill>
              </a:rPr>
              <a:t>Allan Vidal / </a:t>
            </a:r>
            <a:r>
              <a:rPr lang="pt-BR">
                <a:solidFill>
                  <a:srgbClr val="84E26A"/>
                </a:solidFill>
              </a:rPr>
              <a:t>Clodoaldo Bastos</a:t>
            </a:r>
            <a:endParaRPr lang="pt-BR" dirty="0">
              <a:solidFill>
                <a:srgbClr val="84E26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54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0BE7AA-9A38-3178-E4B1-5835ED42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84E26A"/>
                </a:solidFill>
              </a:rPr>
              <a:t>O que é o Node.js?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588BAE8-3B70-0C91-663E-9634C344C4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um software </a:t>
            </a:r>
            <a:r>
              <a:rPr lang="pt-BR" i="1" dirty="0"/>
              <a:t>open </a:t>
            </a:r>
            <a:r>
              <a:rPr lang="pt-BR" i="1" dirty="0" err="1"/>
              <a:t>source</a:t>
            </a:r>
            <a:r>
              <a:rPr lang="pt-BR" i="1" dirty="0"/>
              <a:t> </a:t>
            </a:r>
            <a:r>
              <a:rPr lang="pt-BR" dirty="0"/>
              <a:t>multiplataforma que executa código </a:t>
            </a:r>
            <a:r>
              <a:rPr lang="pt-BR" dirty="0" err="1"/>
              <a:t>JavaScript</a:t>
            </a:r>
            <a:r>
              <a:rPr lang="pt-BR" dirty="0"/>
              <a:t>, usado para criar o </a:t>
            </a:r>
            <a:r>
              <a:rPr lang="pt-BR" i="1" dirty="0" err="1"/>
              <a:t>back-end</a:t>
            </a:r>
            <a:r>
              <a:rPr lang="pt-BR" dirty="0"/>
              <a:t> em aplicações Web e Mobile.</a:t>
            </a:r>
          </a:p>
        </p:txBody>
      </p:sp>
    </p:spTree>
    <p:extLst>
      <p:ext uri="{BB962C8B-B14F-4D97-AF65-F5344CB8AC3E}">
        <p14:creationId xmlns:p14="http://schemas.microsoft.com/office/powerpoint/2010/main" val="2585187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589FC-BC6F-ECB7-241E-5DDE01958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84E26A"/>
                </a:solidFill>
              </a:rPr>
              <a:t>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548712-E276-1E9C-6FF9-DE2AD6EDA1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Single-thread: usa apenas 1 núcleo do processador</a:t>
            </a:r>
          </a:p>
          <a:p>
            <a:r>
              <a:rPr lang="pt-BR" dirty="0"/>
              <a:t>Baixo consumo de RAM e CPU</a:t>
            </a:r>
          </a:p>
          <a:p>
            <a:r>
              <a:rPr lang="pt-BR" dirty="0"/>
              <a:t>Escalável</a:t>
            </a:r>
          </a:p>
          <a:p>
            <a:r>
              <a:rPr lang="pt-BR" dirty="0"/>
              <a:t>Trabalha com múltiplas requisições simultâneas</a:t>
            </a:r>
          </a:p>
          <a:p>
            <a:r>
              <a:rPr lang="pt-BR" dirty="0"/>
              <a:t>Comunidade muito ativa (ótimo para encontrar tutoriais)</a:t>
            </a:r>
          </a:p>
          <a:p>
            <a:r>
              <a:rPr lang="pt-BR" dirty="0"/>
              <a:t>Acesso a milhares de bibliotecas e módulos via NPM (Node </a:t>
            </a:r>
            <a:r>
              <a:rPr lang="pt-BR" dirty="0" err="1"/>
              <a:t>Package</a:t>
            </a:r>
            <a:r>
              <a:rPr lang="pt-BR" dirty="0"/>
              <a:t> Manager)</a:t>
            </a:r>
          </a:p>
          <a:p>
            <a:r>
              <a:rPr lang="pt-BR" dirty="0"/>
              <a:t>Utiliza </a:t>
            </a:r>
            <a:r>
              <a:rPr lang="pt-BR" dirty="0" err="1"/>
              <a:t>JavaScript</a:t>
            </a:r>
            <a:r>
              <a:rPr lang="pt-BR" dirty="0"/>
              <a:t> o que facilita a compatibilidade e integração com outros frameworks como: </a:t>
            </a:r>
            <a:r>
              <a:rPr lang="pt-BR" dirty="0" err="1"/>
              <a:t>React</a:t>
            </a:r>
            <a:r>
              <a:rPr lang="pt-BR" dirty="0"/>
              <a:t>, </a:t>
            </a:r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Native</a:t>
            </a:r>
            <a:r>
              <a:rPr lang="pt-BR" dirty="0"/>
              <a:t> entre outros.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7767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267DAE-4A09-19DC-9045-DAB7810A4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FF3399"/>
                </a:solidFill>
              </a:rPr>
              <a:t>Desvantagem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4342E1-23B6-AF5F-F15E-0D3862559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 ser mais lento do que outras tecnologias como:</a:t>
            </a:r>
          </a:p>
          <a:p>
            <a:pPr lvl="1"/>
            <a:r>
              <a:rPr lang="pt-BR" dirty="0"/>
              <a:t>Java</a:t>
            </a:r>
          </a:p>
          <a:p>
            <a:pPr lvl="1"/>
            <a:r>
              <a:rPr lang="pt-BR" dirty="0"/>
              <a:t>C</a:t>
            </a:r>
          </a:p>
          <a:p>
            <a:pPr lvl="1"/>
            <a:r>
              <a:rPr lang="pt-BR" dirty="0"/>
              <a:t>PHP</a:t>
            </a:r>
          </a:p>
          <a:p>
            <a:pPr lvl="1"/>
            <a:endParaRPr lang="pt-BR" dirty="0"/>
          </a:p>
          <a:p>
            <a:r>
              <a:rPr lang="pt-BR" dirty="0"/>
              <a:t>Por fazer tudo em apenas uma </a:t>
            </a:r>
            <a:r>
              <a:rPr lang="pt-BR" i="1" dirty="0"/>
              <a:t>thread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6350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8FB39-3B81-34CC-2498-12D25B51A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417E38"/>
                </a:solidFill>
              </a:rPr>
              <a:t>Instalação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CE9EA0-9BB6-F87C-7000-70A7101EC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91564" y="1690688"/>
            <a:ext cx="4962236" cy="4351338"/>
          </a:xfrm>
        </p:spPr>
        <p:txBody>
          <a:bodyPr/>
          <a:lstStyle/>
          <a:p>
            <a:r>
              <a:rPr lang="pt-BR" sz="2400" dirty="0">
                <a:hlinkClick r:id="rId2"/>
              </a:rPr>
              <a:t>https://nodejs.org/en/download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Após o download e instalação, abra o </a:t>
            </a:r>
            <a:r>
              <a:rPr lang="pt-BR" sz="2400" b="1" dirty="0" err="1"/>
              <a:t>cmd</a:t>
            </a:r>
            <a:r>
              <a:rPr lang="pt-BR" sz="2400" dirty="0"/>
              <a:t> e digite: </a:t>
            </a:r>
            <a:r>
              <a:rPr lang="pt-BR" sz="2400" b="1" dirty="0"/>
              <a:t>node –v</a:t>
            </a:r>
          </a:p>
          <a:p>
            <a:endParaRPr lang="pt-BR" sz="2400" b="1" dirty="0"/>
          </a:p>
          <a:p>
            <a:r>
              <a:rPr lang="pt-BR" sz="2400" dirty="0"/>
              <a:t>Digite também:</a:t>
            </a:r>
            <a:r>
              <a:rPr lang="pt-BR" sz="2400" b="1" dirty="0"/>
              <a:t> </a:t>
            </a:r>
            <a:r>
              <a:rPr lang="pt-BR" sz="2400" b="1" dirty="0" err="1"/>
              <a:t>npm</a:t>
            </a:r>
            <a:r>
              <a:rPr lang="pt-BR" sz="2400" b="1" dirty="0"/>
              <a:t> -v</a:t>
            </a:r>
          </a:p>
          <a:p>
            <a:endParaRPr lang="pt-BR" sz="2400" b="1" dirty="0"/>
          </a:p>
          <a:p>
            <a:endParaRPr lang="pt-BR" sz="2400" b="1" dirty="0"/>
          </a:p>
          <a:p>
            <a:endParaRPr lang="pt-BR" sz="2400" b="1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78545E7-ADBB-DFF7-2DC0-7B9D31E7C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690688"/>
            <a:ext cx="4684084" cy="3706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137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987B61-269E-9C74-813C-12C760D27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777B9"/>
                </a:solidFill>
              </a:rPr>
              <a:t>IDE</a:t>
            </a:r>
            <a:r>
              <a:rPr lang="pt-BR" dirty="0"/>
              <a:t> - </a:t>
            </a:r>
            <a:r>
              <a:rPr lang="pt-BR" dirty="0" err="1"/>
              <a:t>Integrated</a:t>
            </a:r>
            <a:r>
              <a:rPr lang="pt-BR" dirty="0"/>
              <a:t> </a:t>
            </a:r>
            <a:r>
              <a:rPr lang="pt-BR" dirty="0" err="1"/>
              <a:t>Development</a:t>
            </a:r>
            <a:r>
              <a:rPr lang="pt-BR" dirty="0"/>
              <a:t> </a:t>
            </a:r>
            <a:r>
              <a:rPr lang="pt-BR" dirty="0" err="1"/>
              <a:t>Environment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7D77DB-B48D-6F9C-F325-539D372FCE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Ambiente de Desenvolvimento Integrado</a:t>
            </a:r>
            <a:endParaRPr lang="pt-BR" dirty="0"/>
          </a:p>
        </p:txBody>
      </p:sp>
      <p:pic>
        <p:nvPicPr>
          <p:cNvPr id="1030" name="Picture 6" descr="GitHub - devsujay19/Visual-Studio-Logo: This is the classic ...">
            <a:extLst>
              <a:ext uri="{FF2B5EF4-FFF2-40B4-BE49-F238E27FC236}">
                <a16:creationId xmlns:a16="http://schemas.microsoft.com/office/drawing/2014/main" id="{EA142BF5-549A-3C4D-8FC9-20E654DBF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876" y="2686094"/>
            <a:ext cx="4060248" cy="2992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59341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FD068-DF12-8189-6438-F1197097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Comandos básicos CMD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940068-5EA6-A5AB-2112-FB1E6FEEC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845279" cy="4351338"/>
          </a:xfrm>
        </p:spPr>
        <p:txBody>
          <a:bodyPr/>
          <a:lstStyle/>
          <a:p>
            <a:r>
              <a:rPr lang="pt-BR" dirty="0" err="1"/>
              <a:t>cd</a:t>
            </a:r>
            <a:r>
              <a:rPr lang="pt-BR" dirty="0"/>
              <a:t>\</a:t>
            </a:r>
          </a:p>
          <a:p>
            <a:endParaRPr lang="pt-BR" dirty="0"/>
          </a:p>
          <a:p>
            <a:r>
              <a:rPr lang="pt-BR" dirty="0" err="1"/>
              <a:t>cd</a:t>
            </a:r>
            <a:r>
              <a:rPr lang="pt-BR" dirty="0"/>
              <a:t> </a:t>
            </a:r>
            <a:r>
              <a:rPr lang="pt-BR" dirty="0" err="1"/>
              <a:t>nome_dir</a:t>
            </a:r>
            <a:endParaRPr lang="pt-BR" dirty="0"/>
          </a:p>
          <a:p>
            <a:endParaRPr lang="pt-BR" dirty="0"/>
          </a:p>
          <a:p>
            <a:r>
              <a:rPr lang="pt-BR" dirty="0"/>
              <a:t>cd..</a:t>
            </a:r>
          </a:p>
          <a:p>
            <a:endParaRPr lang="pt-BR" dirty="0"/>
          </a:p>
          <a:p>
            <a:r>
              <a:rPr lang="pt-BR" dirty="0" err="1"/>
              <a:t>mkdir</a:t>
            </a:r>
            <a:r>
              <a:rPr lang="pt-BR" dirty="0"/>
              <a:t> </a:t>
            </a:r>
            <a:r>
              <a:rPr lang="pt-BR" dirty="0" err="1"/>
              <a:t>nome_dir</a:t>
            </a: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0827D77-5BF8-6FB4-01E2-02529B52F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998" y="314545"/>
            <a:ext cx="2860182" cy="150503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DA9C25F8-E466-8E62-55CC-B581A3FD1D35}"/>
              </a:ext>
            </a:extLst>
          </p:cNvPr>
          <p:cNvSpPr txBox="1">
            <a:spLocks/>
          </p:cNvSpPr>
          <p:nvPr/>
        </p:nvSpPr>
        <p:spPr>
          <a:xfrm>
            <a:off x="3587151" y="1827603"/>
            <a:ext cx="666965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>
                <a:solidFill>
                  <a:srgbClr val="417E38"/>
                </a:solidFill>
              </a:rPr>
              <a:t>Ir para o diretório raiz</a:t>
            </a:r>
          </a:p>
          <a:p>
            <a:endParaRPr lang="pt-BR" dirty="0">
              <a:solidFill>
                <a:srgbClr val="417E38"/>
              </a:solidFill>
            </a:endParaRPr>
          </a:p>
          <a:p>
            <a:r>
              <a:rPr lang="pt-BR" dirty="0">
                <a:solidFill>
                  <a:srgbClr val="417E38"/>
                </a:solidFill>
              </a:rPr>
              <a:t>Acessa o diretório especificado (</a:t>
            </a:r>
            <a:r>
              <a:rPr lang="pt-BR" dirty="0" err="1">
                <a:solidFill>
                  <a:srgbClr val="417E38"/>
                </a:solidFill>
              </a:rPr>
              <a:t>nome_dir</a:t>
            </a:r>
            <a:r>
              <a:rPr lang="pt-BR" dirty="0">
                <a:solidFill>
                  <a:srgbClr val="417E38"/>
                </a:solidFill>
              </a:rPr>
              <a:t>)</a:t>
            </a:r>
          </a:p>
          <a:p>
            <a:endParaRPr lang="pt-BR" dirty="0">
              <a:solidFill>
                <a:srgbClr val="417E38"/>
              </a:solidFill>
            </a:endParaRPr>
          </a:p>
          <a:p>
            <a:r>
              <a:rPr lang="pt-BR" dirty="0">
                <a:solidFill>
                  <a:srgbClr val="417E38"/>
                </a:solidFill>
              </a:rPr>
              <a:t>Volta um diretório</a:t>
            </a:r>
          </a:p>
          <a:p>
            <a:endParaRPr lang="pt-BR" dirty="0">
              <a:solidFill>
                <a:srgbClr val="417E38"/>
              </a:solidFill>
            </a:endParaRPr>
          </a:p>
          <a:p>
            <a:r>
              <a:rPr lang="pt-BR" dirty="0">
                <a:solidFill>
                  <a:srgbClr val="417E38"/>
                </a:solidFill>
              </a:rPr>
              <a:t>Cria um diretório com o nome especificado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793010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XONOR Esqueleto de Halloween, esqueleto de corpo inteiro, articulações  possíveis, decorações de esqueleto humano de 0,90 m para festa de Halloween  ...">
            <a:extLst>
              <a:ext uri="{FF2B5EF4-FFF2-40B4-BE49-F238E27FC236}">
                <a16:creationId xmlns:a16="http://schemas.microsoft.com/office/drawing/2014/main" id="{F4D97100-3E70-18A4-92F4-57D9041D2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901" y="572294"/>
            <a:ext cx="2503488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2CA9FC1-3717-495F-9291-C0680BDDF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66FF"/>
                </a:solidFill>
              </a:rPr>
              <a:t>Conceitos - Framework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602386C-187F-45F9-A01B-ADE74A97D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</a:t>
            </a:r>
            <a:r>
              <a:rPr lang="pt-BR" dirty="0">
                <a:solidFill>
                  <a:srgbClr val="0066FF"/>
                </a:solidFill>
              </a:rPr>
              <a:t>framework</a:t>
            </a:r>
            <a:r>
              <a:rPr lang="pt-BR" dirty="0"/>
              <a:t>, em sua essência, é uma </a:t>
            </a:r>
            <a:r>
              <a:rPr lang="pt-BR" b="0" dirty="0">
                <a:effectLst/>
              </a:rPr>
              <a:t>estrutura predefinida que oferece um conjunto de diretrizes, padrões, ferramentas e códigos reutilizáveis para facilitar e agilizar a execução de tarefas ou o desenvolvimento de aplicações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Ele funciona como um "esqueleto" ou uma base sólida sobre a qual os desenvolvedores ou profissionais podem construir, sem a necessidade de "reinventar a roda" para funcionalidades comuns. </a:t>
            </a:r>
          </a:p>
        </p:txBody>
      </p:sp>
    </p:spTree>
    <p:extLst>
      <p:ext uri="{BB962C8B-B14F-4D97-AF65-F5344CB8AC3E}">
        <p14:creationId xmlns:p14="http://schemas.microsoft.com/office/powerpoint/2010/main" val="25611565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55158-D757-480E-C389-C0110D7CE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E5BEECA-4513-1331-6A05-D58CD2A397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>
                <a:solidFill>
                  <a:srgbClr val="417E38"/>
                </a:solidFill>
              </a:rPr>
              <a:t>Framework</a:t>
            </a:r>
            <a:r>
              <a:rPr lang="pt-BR" dirty="0"/>
              <a:t> web rápido, minimalista e sem opiniões preconcebidas para Node.js</a:t>
            </a:r>
          </a:p>
        </p:txBody>
      </p:sp>
      <p:pic>
        <p:nvPicPr>
          <p:cNvPr id="4" name="Picture 2" descr="Introduction to Express JS">
            <a:extLst>
              <a:ext uri="{FF2B5EF4-FFF2-40B4-BE49-F238E27FC236}">
                <a16:creationId xmlns:a16="http://schemas.microsoft.com/office/drawing/2014/main" id="{F5A69A39-4D77-F75D-2650-93AB567C25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74" t="8474" r="4547" b="15242"/>
          <a:stretch/>
        </p:blipFill>
        <p:spPr bwMode="auto">
          <a:xfrm>
            <a:off x="957533" y="534838"/>
            <a:ext cx="2484408" cy="905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64D814E6-5AE8-6EED-4C4D-C95D546A3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5897"/>
            <a:ext cx="9697803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754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583BE0-C65B-0B8B-44A5-FAFB75EE8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Criar uma aplicação com o Express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667C15B-7A15-4E48-356E-840B6DE7B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https://expressjs.com/</a:t>
            </a:r>
            <a:endParaRPr lang="pt-BR" dirty="0"/>
          </a:p>
          <a:p>
            <a:endParaRPr lang="pt-BR" dirty="0"/>
          </a:p>
          <a:p>
            <a:r>
              <a:rPr lang="pt-BR" dirty="0"/>
              <a:t>Execute o comando (dentro do diretório do seu projeto): </a:t>
            </a:r>
          </a:p>
          <a:p>
            <a:pPr lvl="1"/>
            <a:r>
              <a:rPr lang="pt-BR" dirty="0" err="1">
                <a:solidFill>
                  <a:srgbClr val="0068C0"/>
                </a:solidFill>
              </a:rPr>
              <a:t>npm</a:t>
            </a:r>
            <a:r>
              <a:rPr lang="pt-BR" dirty="0">
                <a:solidFill>
                  <a:srgbClr val="0068C0"/>
                </a:solidFill>
              </a:rPr>
              <a:t> </a:t>
            </a:r>
            <a:r>
              <a:rPr lang="pt-BR" dirty="0" err="1">
                <a:solidFill>
                  <a:srgbClr val="0068C0"/>
                </a:solidFill>
              </a:rPr>
              <a:t>install</a:t>
            </a:r>
            <a:r>
              <a:rPr lang="pt-BR" dirty="0">
                <a:solidFill>
                  <a:srgbClr val="0068C0"/>
                </a:solidFill>
              </a:rPr>
              <a:t> </a:t>
            </a:r>
            <a:r>
              <a:rPr lang="pt-BR" dirty="0" err="1">
                <a:solidFill>
                  <a:srgbClr val="0068C0"/>
                </a:solidFill>
              </a:rPr>
              <a:t>express</a:t>
            </a:r>
            <a:r>
              <a:rPr lang="pt-BR" dirty="0">
                <a:solidFill>
                  <a:srgbClr val="0068C0"/>
                </a:solidFill>
              </a:rPr>
              <a:t> –</a:t>
            </a:r>
            <a:r>
              <a:rPr lang="pt-BR" dirty="0" err="1">
                <a:solidFill>
                  <a:srgbClr val="0068C0"/>
                </a:solidFill>
              </a:rPr>
              <a:t>save</a:t>
            </a:r>
            <a:endParaRPr lang="pt-BR" dirty="0">
              <a:solidFill>
                <a:srgbClr val="0068C0"/>
              </a:solidFill>
            </a:endParaRPr>
          </a:p>
          <a:p>
            <a:pPr lvl="1"/>
            <a:endParaRPr lang="pt-BR" dirty="0"/>
          </a:p>
          <a:p>
            <a:r>
              <a:rPr lang="pt-BR" dirty="0"/>
              <a:t>Crie um arquivo com o nome </a:t>
            </a:r>
            <a:r>
              <a:rPr lang="pt-BR" b="1" dirty="0">
                <a:solidFill>
                  <a:srgbClr val="84E26A"/>
                </a:solidFill>
              </a:rPr>
              <a:t>app.js</a:t>
            </a:r>
          </a:p>
          <a:p>
            <a:endParaRPr lang="pt-BR" dirty="0"/>
          </a:p>
          <a:p>
            <a:r>
              <a:rPr lang="pt-BR" dirty="0"/>
              <a:t>Digitar o código:                                                           </a:t>
            </a:r>
          </a:p>
          <a:p>
            <a:r>
              <a:rPr lang="pt-BR" dirty="0"/>
              <a:t>Digite </a:t>
            </a:r>
            <a:r>
              <a:rPr lang="pt-BR" dirty="0">
                <a:solidFill>
                  <a:srgbClr val="84E26A"/>
                </a:solidFill>
              </a:rPr>
              <a:t>node app.js </a:t>
            </a:r>
            <a:r>
              <a:rPr lang="pt-BR" dirty="0"/>
              <a:t>para executar a aplicação.</a:t>
            </a:r>
          </a:p>
          <a:p>
            <a:endParaRPr lang="pt-BR" dirty="0"/>
          </a:p>
          <a:p>
            <a:pPr lvl="1"/>
            <a:endParaRPr lang="pt-BR" dirty="0"/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5DAD7F3-4C98-21D3-B75E-F18782F87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2774" y="4463792"/>
            <a:ext cx="3162741" cy="1848108"/>
          </a:xfrm>
          <a:prstGeom prst="rect">
            <a:avLst/>
          </a:prstGeom>
        </p:spPr>
      </p:pic>
      <p:pic>
        <p:nvPicPr>
          <p:cNvPr id="1026" name="Picture 2" descr="Introduction to Express JS">
            <a:extLst>
              <a:ext uri="{FF2B5EF4-FFF2-40B4-BE49-F238E27FC236}">
                <a16:creationId xmlns:a16="http://schemas.microsoft.com/office/drawing/2014/main" id="{68636224-D956-2363-549C-32D88F2D9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2203" y="546558"/>
            <a:ext cx="2211597" cy="962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6602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1CAA2-701D-048E-BC54-A0201276C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 dê erro na criação da aplicação com Express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EB52EC6-B56F-CBD5-AF5D-E138B724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79189" cy="4351338"/>
          </a:xfrm>
        </p:spPr>
        <p:txBody>
          <a:bodyPr/>
          <a:lstStyle/>
          <a:p>
            <a:r>
              <a:rPr lang="pt-BR" dirty="0"/>
              <a:t>Execute o </a:t>
            </a:r>
            <a:r>
              <a:rPr lang="pt-BR" b="1" dirty="0"/>
              <a:t>Power Shell </a:t>
            </a:r>
            <a:r>
              <a:rPr lang="pt-BR" dirty="0"/>
              <a:t>como </a:t>
            </a:r>
            <a:r>
              <a:rPr lang="pt-BR" dirty="0">
                <a:solidFill>
                  <a:srgbClr val="0068C0"/>
                </a:solidFill>
              </a:rPr>
              <a:t>Administrador</a:t>
            </a:r>
          </a:p>
          <a:p>
            <a:endParaRPr lang="pt-BR" dirty="0">
              <a:solidFill>
                <a:srgbClr val="0068C0"/>
              </a:solidFill>
            </a:endParaRPr>
          </a:p>
          <a:p>
            <a:r>
              <a:rPr lang="pt-BR" dirty="0"/>
              <a:t>Digite o comando:</a:t>
            </a:r>
            <a:r>
              <a:rPr lang="pt-BR" dirty="0">
                <a:solidFill>
                  <a:srgbClr val="0068C0"/>
                </a:solidFill>
              </a:rPr>
              <a:t> </a:t>
            </a:r>
            <a:br>
              <a:rPr lang="pt-BR" dirty="0">
                <a:solidFill>
                  <a:srgbClr val="0068C0"/>
                </a:solidFill>
              </a:rPr>
            </a:br>
            <a:r>
              <a:rPr lang="pt-BR" sz="2400" dirty="0">
                <a:solidFill>
                  <a:srgbClr val="0068C0"/>
                </a:solidFill>
              </a:rPr>
              <a:t>Set-</a:t>
            </a:r>
            <a:r>
              <a:rPr lang="pt-BR" sz="2400" dirty="0" err="1">
                <a:solidFill>
                  <a:srgbClr val="0068C0"/>
                </a:solidFill>
              </a:rPr>
              <a:t>ExecutionPolicy</a:t>
            </a:r>
            <a:r>
              <a:rPr lang="pt-BR" sz="2400" dirty="0">
                <a:solidFill>
                  <a:srgbClr val="0068C0"/>
                </a:solidFill>
              </a:rPr>
              <a:t> </a:t>
            </a:r>
            <a:r>
              <a:rPr lang="pt-BR" sz="2400" dirty="0" err="1">
                <a:solidFill>
                  <a:srgbClr val="0068C0"/>
                </a:solidFill>
              </a:rPr>
              <a:t>Unrestricted</a:t>
            </a:r>
            <a:endParaRPr lang="pt-BR" sz="2400" dirty="0">
              <a:solidFill>
                <a:srgbClr val="0068C0"/>
              </a:solidFill>
            </a:endParaRPr>
          </a:p>
          <a:p>
            <a:endParaRPr lang="pt-BR" sz="2400" dirty="0">
              <a:solidFill>
                <a:srgbClr val="0068C0"/>
              </a:solidFill>
            </a:endParaRPr>
          </a:p>
          <a:p>
            <a:r>
              <a:rPr lang="pt-BR" dirty="0"/>
              <a:t>Digite: </a:t>
            </a:r>
            <a:r>
              <a:rPr lang="pt-BR" dirty="0">
                <a:solidFill>
                  <a:srgbClr val="0068C0"/>
                </a:solidFill>
              </a:rPr>
              <a:t>s</a:t>
            </a:r>
            <a:r>
              <a:rPr lang="pt-BR" dirty="0"/>
              <a:t> (para sim)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F29F62A-4EDC-1411-A669-8D2F419B4E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74" t="2817" r="3645" b="5414"/>
          <a:stretch/>
        </p:blipFill>
        <p:spPr>
          <a:xfrm>
            <a:off x="6319982" y="1690688"/>
            <a:ext cx="5033818" cy="4618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8695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D77D9C-18AD-16A6-725D-5C312B6A8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Criando Rotas para a aplicação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7A318F-623F-5E15-4881-7038EE607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45000" cy="4351338"/>
          </a:xfrm>
        </p:spPr>
        <p:txBody>
          <a:bodyPr/>
          <a:lstStyle/>
          <a:p>
            <a:r>
              <a:rPr lang="pt-BR" dirty="0" err="1"/>
              <a:t>req</a:t>
            </a:r>
            <a:r>
              <a:rPr lang="pt-BR" dirty="0"/>
              <a:t> – requisição</a:t>
            </a:r>
          </a:p>
          <a:p>
            <a:endParaRPr lang="pt-BR" dirty="0"/>
          </a:p>
          <a:p>
            <a:r>
              <a:rPr lang="pt-BR" dirty="0"/>
              <a:t>res – resposta</a:t>
            </a:r>
          </a:p>
          <a:p>
            <a:endParaRPr lang="pt-BR" dirty="0"/>
          </a:p>
          <a:p>
            <a:r>
              <a:rPr lang="pt-BR" dirty="0"/>
              <a:t>8081 – porta padrão do Node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2B98B5A-A78C-9ABB-7631-979F08199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229" y="1453001"/>
            <a:ext cx="3172268" cy="509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01008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45F829-A329-7997-E000-F059890C3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Biblioteca </a:t>
            </a:r>
            <a:r>
              <a:rPr lang="pt-BR" dirty="0" err="1"/>
              <a:t>Nodemon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7BA3CA-84BC-C51A-1BD5-5F33DF8F14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>
                <a:hlinkClick r:id="rId2"/>
              </a:rPr>
              <a:t>https://www.npmjs.com/package/nodemon</a:t>
            </a:r>
            <a:endParaRPr lang="pt-BR" dirty="0"/>
          </a:p>
          <a:p>
            <a:endParaRPr lang="pt-BR" dirty="0"/>
          </a:p>
          <a:p>
            <a:r>
              <a:rPr lang="pt-BR" dirty="0"/>
              <a:t>Para instalar o </a:t>
            </a:r>
            <a:r>
              <a:rPr lang="pt-BR" dirty="0" err="1"/>
              <a:t>nodemon</a:t>
            </a:r>
            <a:r>
              <a:rPr lang="pt-BR" dirty="0"/>
              <a:t> digite o comando (no </a:t>
            </a:r>
            <a:r>
              <a:rPr lang="pt-BR" dirty="0" err="1"/>
              <a:t>cmd</a:t>
            </a:r>
            <a:r>
              <a:rPr lang="pt-BR" dirty="0"/>
              <a:t>): </a:t>
            </a:r>
          </a:p>
          <a:p>
            <a:pPr lvl="1"/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-g </a:t>
            </a:r>
            <a:r>
              <a:rPr lang="pt-BR" dirty="0" err="1"/>
              <a:t>nodemon</a:t>
            </a:r>
            <a:endParaRPr lang="pt-BR" dirty="0"/>
          </a:p>
          <a:p>
            <a:pPr lvl="1"/>
            <a:endParaRPr lang="pt-BR" dirty="0"/>
          </a:p>
          <a:p>
            <a:r>
              <a:rPr lang="pt-BR" dirty="0"/>
              <a:t>Para executar a aplicação a partir de agora, digite:</a:t>
            </a:r>
          </a:p>
          <a:p>
            <a:pPr lvl="1"/>
            <a:r>
              <a:rPr lang="pt-BR" dirty="0" err="1"/>
              <a:t>nodemon</a:t>
            </a:r>
            <a:r>
              <a:rPr lang="pt-BR" dirty="0"/>
              <a:t> </a:t>
            </a:r>
            <a:r>
              <a:rPr lang="pt-BR" dirty="0" err="1"/>
              <a:t>nome_do_arquivo</a:t>
            </a:r>
            <a:endParaRPr lang="pt-BR" dirty="0"/>
          </a:p>
          <a:p>
            <a:pPr lvl="1"/>
            <a:r>
              <a:rPr lang="pt-BR" dirty="0" err="1"/>
              <a:t>nodemon</a:t>
            </a:r>
            <a:r>
              <a:rPr lang="pt-BR" dirty="0"/>
              <a:t> app.js</a:t>
            </a:r>
          </a:p>
          <a:p>
            <a:pPr lvl="1"/>
            <a:endParaRPr lang="pt-BR" dirty="0"/>
          </a:p>
          <a:p>
            <a:r>
              <a:rPr lang="pt-BR" dirty="0"/>
              <a:t>Aqui na escola:</a:t>
            </a:r>
          </a:p>
          <a:p>
            <a:pPr lvl="1"/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r>
              <a:rPr lang="pt-BR" dirty="0"/>
              <a:t> --</a:t>
            </a:r>
            <a:r>
              <a:rPr lang="pt-BR" dirty="0" err="1"/>
              <a:t>save-dev</a:t>
            </a:r>
            <a:r>
              <a:rPr lang="pt-BR" dirty="0"/>
              <a:t> </a:t>
            </a:r>
            <a:r>
              <a:rPr lang="pt-BR" dirty="0" err="1"/>
              <a:t>nodemon</a:t>
            </a:r>
            <a:endParaRPr lang="pt-BR" dirty="0"/>
          </a:p>
          <a:p>
            <a:pPr lvl="1"/>
            <a:r>
              <a:rPr lang="pt-BR" dirty="0" err="1"/>
              <a:t>npx</a:t>
            </a:r>
            <a:r>
              <a:rPr lang="pt-BR" dirty="0"/>
              <a:t> </a:t>
            </a:r>
            <a:r>
              <a:rPr lang="pt-BR" dirty="0" err="1"/>
              <a:t>nodemon</a:t>
            </a:r>
            <a:r>
              <a:rPr lang="pt-BR" dirty="0"/>
              <a:t> app.js</a:t>
            </a:r>
          </a:p>
          <a:p>
            <a:pPr lvl="1"/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5383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4E0E92-45F7-2335-2BC8-49F83A9A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do Node.js com HTML – CSS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5ED93D-F1CE-FCBF-CAEC-A8F6895854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36" y="1855222"/>
            <a:ext cx="1960213" cy="2179367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DC6EFF9-FC4F-CD07-6C29-45DB77DB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435" y="5030940"/>
            <a:ext cx="1960213" cy="54684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B83F17F-3C32-880A-4DB2-F8D6B90530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55222"/>
            <a:ext cx="5000754" cy="2127479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51E6D940-6835-C7AF-A2F3-235D3F3411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4092196"/>
            <a:ext cx="4258269" cy="2572109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ACA918C8-F030-A61F-A248-55D4F3381A15}"/>
              </a:ext>
            </a:extLst>
          </p:cNvPr>
          <p:cNvSpPr txBox="1"/>
          <p:nvPr/>
        </p:nvSpPr>
        <p:spPr>
          <a:xfrm>
            <a:off x="963132" y="2429777"/>
            <a:ext cx="111274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417E38"/>
                </a:solidFill>
              </a:rPr>
              <a:t>Estrutura</a:t>
            </a:r>
          </a:p>
          <a:p>
            <a:pPr algn="ctr"/>
            <a:r>
              <a:rPr lang="pt-BR" dirty="0">
                <a:solidFill>
                  <a:srgbClr val="417E38"/>
                </a:solidFill>
              </a:rPr>
              <a:t>de</a:t>
            </a:r>
          </a:p>
          <a:p>
            <a:pPr algn="ctr"/>
            <a:r>
              <a:rPr lang="pt-BR" dirty="0">
                <a:solidFill>
                  <a:srgbClr val="417E38"/>
                </a:solidFill>
              </a:rPr>
              <a:t>Diretórios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8F7C25-2829-2080-1EF2-4B767F1178FD}"/>
              </a:ext>
            </a:extLst>
          </p:cNvPr>
          <p:cNvSpPr txBox="1"/>
          <p:nvPr/>
        </p:nvSpPr>
        <p:spPr>
          <a:xfrm>
            <a:off x="1259655" y="5119694"/>
            <a:ext cx="519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417E38"/>
                </a:solidFill>
              </a:rPr>
              <a:t>CSS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ADD3F14-3142-DE75-8D1C-66B0C65B79CB}"/>
              </a:ext>
            </a:extLst>
          </p:cNvPr>
          <p:cNvSpPr txBox="1"/>
          <p:nvPr/>
        </p:nvSpPr>
        <p:spPr>
          <a:xfrm>
            <a:off x="5030464" y="2734295"/>
            <a:ext cx="7361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417E38"/>
                </a:solidFill>
              </a:rPr>
              <a:t>HTML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324968A-57D0-C440-C662-A39FA59066A1}"/>
              </a:ext>
            </a:extLst>
          </p:cNvPr>
          <p:cNvSpPr txBox="1"/>
          <p:nvPr/>
        </p:nvSpPr>
        <p:spPr>
          <a:xfrm>
            <a:off x="5028061" y="5119694"/>
            <a:ext cx="74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dirty="0">
                <a:solidFill>
                  <a:srgbClr val="417E38"/>
                </a:solidFill>
              </a:rPr>
              <a:t>app.js</a:t>
            </a:r>
          </a:p>
        </p:txBody>
      </p:sp>
    </p:spTree>
    <p:extLst>
      <p:ext uri="{BB962C8B-B14F-4D97-AF65-F5344CB8AC3E}">
        <p14:creationId xmlns:p14="http://schemas.microsoft.com/office/powerpoint/2010/main" val="39132990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234</TotalTime>
  <Words>472</Words>
  <Application>Microsoft Office PowerPoint</Application>
  <PresentationFormat>Widescreen</PresentationFormat>
  <Paragraphs>104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Google Sans</vt:lpstr>
      <vt:lpstr>Tema do Office</vt:lpstr>
      <vt:lpstr>Programação Web II</vt:lpstr>
      <vt:lpstr>O que é o Node.js?</vt:lpstr>
      <vt:lpstr>Vantagens</vt:lpstr>
      <vt:lpstr>Desvantagem</vt:lpstr>
      <vt:lpstr>Instalação</vt:lpstr>
      <vt:lpstr>IDE - Integrated Development Environment</vt:lpstr>
      <vt:lpstr>Comandos básicos CMD</vt:lpstr>
      <vt:lpstr>Conceitos - Framework</vt:lpstr>
      <vt:lpstr>Apresentação do PowerPoint</vt:lpstr>
      <vt:lpstr>Criar uma aplicação com o Express</vt:lpstr>
      <vt:lpstr>Caso dê erro na criação da aplicação com Express</vt:lpstr>
      <vt:lpstr>Criando Rotas para a aplicação</vt:lpstr>
      <vt:lpstr>Biblioteca Nodemon</vt:lpstr>
      <vt:lpstr>Exemplo do Node.js com HTML – CSS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Allan Vidal de Negreiros</dc:creator>
  <cp:lastModifiedBy>userlocal</cp:lastModifiedBy>
  <cp:revision>35</cp:revision>
  <dcterms:created xsi:type="dcterms:W3CDTF">2026-02-09T16:51:06Z</dcterms:created>
  <dcterms:modified xsi:type="dcterms:W3CDTF">2026-02-24T13:58:00Z</dcterms:modified>
</cp:coreProperties>
</file>